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39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34" autoAdjust="0"/>
    <p:restoredTop sz="94660"/>
  </p:normalViewPr>
  <p:slideViewPr>
    <p:cSldViewPr snapToGrid="0">
      <p:cViewPr varScale="1">
        <p:scale>
          <a:sx n="71" d="100"/>
          <a:sy n="71" d="100"/>
        </p:scale>
        <p:origin x="-708" y="-96"/>
      </p:cViewPr>
      <p:guideLst>
        <p:guide orient="horz" pos="2174"/>
        <p:guide pos="390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3BBE5-0BEA-4494-9BEF-C8C2F48C9E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: 形状 13"/>
          <p:cNvSpPr>
            <a:spLocks noGrp="1"/>
          </p:cNvSpPr>
          <p:nvPr>
            <p:ph type="pic" sz="quarter" idx="10"/>
          </p:nvPr>
        </p:nvSpPr>
        <p:spPr>
          <a:xfrm>
            <a:off x="1348928" y="1909227"/>
            <a:ext cx="1687613" cy="1687612"/>
          </a:xfrm>
          <a:custGeom>
            <a:avLst/>
            <a:gdLst>
              <a:gd name="connsiteX0" fmla="*/ 281274 w 1687613"/>
              <a:gd name="connsiteY0" fmla="*/ 0 h 1687612"/>
              <a:gd name="connsiteX1" fmla="*/ 1406339 w 1687613"/>
              <a:gd name="connsiteY1" fmla="*/ 0 h 1687612"/>
              <a:gd name="connsiteX2" fmla="*/ 1687613 w 1687613"/>
              <a:gd name="connsiteY2" fmla="*/ 281274 h 1687612"/>
              <a:gd name="connsiteX3" fmla="*/ 1687613 w 1687613"/>
              <a:gd name="connsiteY3" fmla="*/ 1406338 h 1687612"/>
              <a:gd name="connsiteX4" fmla="*/ 1406339 w 1687613"/>
              <a:gd name="connsiteY4" fmla="*/ 1687612 h 1687612"/>
              <a:gd name="connsiteX5" fmla="*/ 281274 w 1687613"/>
              <a:gd name="connsiteY5" fmla="*/ 1687612 h 1687612"/>
              <a:gd name="connsiteX6" fmla="*/ 0 w 1687613"/>
              <a:gd name="connsiteY6" fmla="*/ 1406338 h 1687612"/>
              <a:gd name="connsiteX7" fmla="*/ 0 w 1687613"/>
              <a:gd name="connsiteY7" fmla="*/ 281274 h 1687612"/>
              <a:gd name="connsiteX8" fmla="*/ 281274 w 1687613"/>
              <a:gd name="connsiteY8" fmla="*/ 0 h 1687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7613" h="1687612">
                <a:moveTo>
                  <a:pt x="281274" y="0"/>
                </a:moveTo>
                <a:lnTo>
                  <a:pt x="1406339" y="0"/>
                </a:lnTo>
                <a:cubicBezTo>
                  <a:pt x="1561682" y="0"/>
                  <a:pt x="1687613" y="125931"/>
                  <a:pt x="1687613" y="281274"/>
                </a:cubicBezTo>
                <a:lnTo>
                  <a:pt x="1687613" y="1406338"/>
                </a:lnTo>
                <a:cubicBezTo>
                  <a:pt x="1687613" y="1561681"/>
                  <a:pt x="1561682" y="1687612"/>
                  <a:pt x="1406339" y="1687612"/>
                </a:cubicBezTo>
                <a:lnTo>
                  <a:pt x="281274" y="1687612"/>
                </a:lnTo>
                <a:cubicBezTo>
                  <a:pt x="125931" y="1687612"/>
                  <a:pt x="0" y="1561681"/>
                  <a:pt x="0" y="1406338"/>
                </a:cubicBezTo>
                <a:lnTo>
                  <a:pt x="0" y="281274"/>
                </a:lnTo>
                <a:cubicBezTo>
                  <a:pt x="0" y="125931"/>
                  <a:pt x="125931" y="0"/>
                  <a:pt x="281274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  <a:effectLst>
            <a:outerShdw blurRad="203200" dist="63500" dir="5400000" algn="t" rotWithShape="0">
              <a:prstClr val="black">
                <a:alpha val="7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>
              <a:defRPr lang="zh-CN" altLang="en-US" sz="180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7" name="任意多边形: 形状 16"/>
          <p:cNvSpPr>
            <a:spLocks noGrp="1"/>
          </p:cNvSpPr>
          <p:nvPr>
            <p:ph type="pic" sz="quarter" idx="11"/>
          </p:nvPr>
        </p:nvSpPr>
        <p:spPr>
          <a:xfrm>
            <a:off x="3300561" y="3854550"/>
            <a:ext cx="1687613" cy="1687612"/>
          </a:xfrm>
          <a:custGeom>
            <a:avLst/>
            <a:gdLst>
              <a:gd name="connsiteX0" fmla="*/ 281274 w 1687613"/>
              <a:gd name="connsiteY0" fmla="*/ 0 h 1687612"/>
              <a:gd name="connsiteX1" fmla="*/ 1406339 w 1687613"/>
              <a:gd name="connsiteY1" fmla="*/ 0 h 1687612"/>
              <a:gd name="connsiteX2" fmla="*/ 1687613 w 1687613"/>
              <a:gd name="connsiteY2" fmla="*/ 281274 h 1687612"/>
              <a:gd name="connsiteX3" fmla="*/ 1687613 w 1687613"/>
              <a:gd name="connsiteY3" fmla="*/ 1406338 h 1687612"/>
              <a:gd name="connsiteX4" fmla="*/ 1406339 w 1687613"/>
              <a:gd name="connsiteY4" fmla="*/ 1687612 h 1687612"/>
              <a:gd name="connsiteX5" fmla="*/ 281274 w 1687613"/>
              <a:gd name="connsiteY5" fmla="*/ 1687612 h 1687612"/>
              <a:gd name="connsiteX6" fmla="*/ 0 w 1687613"/>
              <a:gd name="connsiteY6" fmla="*/ 1406338 h 1687612"/>
              <a:gd name="connsiteX7" fmla="*/ 0 w 1687613"/>
              <a:gd name="connsiteY7" fmla="*/ 281274 h 1687612"/>
              <a:gd name="connsiteX8" fmla="*/ 281274 w 1687613"/>
              <a:gd name="connsiteY8" fmla="*/ 0 h 1687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7613" h="1687612">
                <a:moveTo>
                  <a:pt x="281274" y="0"/>
                </a:moveTo>
                <a:lnTo>
                  <a:pt x="1406339" y="0"/>
                </a:lnTo>
                <a:cubicBezTo>
                  <a:pt x="1561682" y="0"/>
                  <a:pt x="1687613" y="125931"/>
                  <a:pt x="1687613" y="281274"/>
                </a:cubicBezTo>
                <a:lnTo>
                  <a:pt x="1687613" y="1406338"/>
                </a:lnTo>
                <a:cubicBezTo>
                  <a:pt x="1687613" y="1561681"/>
                  <a:pt x="1561682" y="1687612"/>
                  <a:pt x="1406339" y="1687612"/>
                </a:cubicBezTo>
                <a:lnTo>
                  <a:pt x="281274" y="1687612"/>
                </a:lnTo>
                <a:cubicBezTo>
                  <a:pt x="125931" y="1687612"/>
                  <a:pt x="0" y="1561681"/>
                  <a:pt x="0" y="1406338"/>
                </a:cubicBezTo>
                <a:lnTo>
                  <a:pt x="0" y="281274"/>
                </a:lnTo>
                <a:cubicBezTo>
                  <a:pt x="0" y="125931"/>
                  <a:pt x="125931" y="0"/>
                  <a:pt x="281274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  <a:effectLst>
            <a:outerShdw blurRad="203200" dist="63500" dir="5400000" algn="t" rotWithShape="0">
              <a:prstClr val="black">
                <a:alpha val="7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>
              <a:defRPr lang="zh-CN" altLang="en-US" sz="180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5" name="任意多边形: 形状 14"/>
          <p:cNvSpPr>
            <a:spLocks noGrp="1"/>
          </p:cNvSpPr>
          <p:nvPr>
            <p:ph type="pic" sz="quarter" idx="12"/>
          </p:nvPr>
        </p:nvSpPr>
        <p:spPr>
          <a:xfrm>
            <a:off x="5252194" y="1909227"/>
            <a:ext cx="1687613" cy="1687612"/>
          </a:xfrm>
          <a:custGeom>
            <a:avLst/>
            <a:gdLst>
              <a:gd name="connsiteX0" fmla="*/ 281274 w 1687613"/>
              <a:gd name="connsiteY0" fmla="*/ 0 h 1687612"/>
              <a:gd name="connsiteX1" fmla="*/ 1406339 w 1687613"/>
              <a:gd name="connsiteY1" fmla="*/ 0 h 1687612"/>
              <a:gd name="connsiteX2" fmla="*/ 1687613 w 1687613"/>
              <a:gd name="connsiteY2" fmla="*/ 281274 h 1687612"/>
              <a:gd name="connsiteX3" fmla="*/ 1687613 w 1687613"/>
              <a:gd name="connsiteY3" fmla="*/ 1406338 h 1687612"/>
              <a:gd name="connsiteX4" fmla="*/ 1406339 w 1687613"/>
              <a:gd name="connsiteY4" fmla="*/ 1687612 h 1687612"/>
              <a:gd name="connsiteX5" fmla="*/ 281274 w 1687613"/>
              <a:gd name="connsiteY5" fmla="*/ 1687612 h 1687612"/>
              <a:gd name="connsiteX6" fmla="*/ 0 w 1687613"/>
              <a:gd name="connsiteY6" fmla="*/ 1406338 h 1687612"/>
              <a:gd name="connsiteX7" fmla="*/ 0 w 1687613"/>
              <a:gd name="connsiteY7" fmla="*/ 281274 h 1687612"/>
              <a:gd name="connsiteX8" fmla="*/ 281274 w 1687613"/>
              <a:gd name="connsiteY8" fmla="*/ 0 h 1687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7613" h="1687612">
                <a:moveTo>
                  <a:pt x="281274" y="0"/>
                </a:moveTo>
                <a:lnTo>
                  <a:pt x="1406339" y="0"/>
                </a:lnTo>
                <a:cubicBezTo>
                  <a:pt x="1561682" y="0"/>
                  <a:pt x="1687613" y="125931"/>
                  <a:pt x="1687613" y="281274"/>
                </a:cubicBezTo>
                <a:lnTo>
                  <a:pt x="1687613" y="1406338"/>
                </a:lnTo>
                <a:cubicBezTo>
                  <a:pt x="1687613" y="1561681"/>
                  <a:pt x="1561682" y="1687612"/>
                  <a:pt x="1406339" y="1687612"/>
                </a:cubicBezTo>
                <a:lnTo>
                  <a:pt x="281274" y="1687612"/>
                </a:lnTo>
                <a:cubicBezTo>
                  <a:pt x="125931" y="1687612"/>
                  <a:pt x="0" y="1561681"/>
                  <a:pt x="0" y="1406338"/>
                </a:cubicBezTo>
                <a:lnTo>
                  <a:pt x="0" y="281274"/>
                </a:lnTo>
                <a:cubicBezTo>
                  <a:pt x="0" y="125931"/>
                  <a:pt x="125931" y="0"/>
                  <a:pt x="281274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  <a:effectLst>
            <a:outerShdw blurRad="203200" dist="63500" dir="5400000" algn="t" rotWithShape="0">
              <a:prstClr val="black">
                <a:alpha val="7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>
              <a:defRPr lang="zh-CN" altLang="en-US" sz="180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8" name="任意多边形: 形状 17"/>
          <p:cNvSpPr>
            <a:spLocks noGrp="1"/>
          </p:cNvSpPr>
          <p:nvPr>
            <p:ph type="pic" sz="quarter" idx="13"/>
          </p:nvPr>
        </p:nvSpPr>
        <p:spPr>
          <a:xfrm>
            <a:off x="7203827" y="3854550"/>
            <a:ext cx="1687613" cy="1687612"/>
          </a:xfrm>
          <a:custGeom>
            <a:avLst/>
            <a:gdLst>
              <a:gd name="connsiteX0" fmla="*/ 281274 w 1687613"/>
              <a:gd name="connsiteY0" fmla="*/ 0 h 1687612"/>
              <a:gd name="connsiteX1" fmla="*/ 1406339 w 1687613"/>
              <a:gd name="connsiteY1" fmla="*/ 0 h 1687612"/>
              <a:gd name="connsiteX2" fmla="*/ 1687613 w 1687613"/>
              <a:gd name="connsiteY2" fmla="*/ 281274 h 1687612"/>
              <a:gd name="connsiteX3" fmla="*/ 1687613 w 1687613"/>
              <a:gd name="connsiteY3" fmla="*/ 1406338 h 1687612"/>
              <a:gd name="connsiteX4" fmla="*/ 1406339 w 1687613"/>
              <a:gd name="connsiteY4" fmla="*/ 1687612 h 1687612"/>
              <a:gd name="connsiteX5" fmla="*/ 281274 w 1687613"/>
              <a:gd name="connsiteY5" fmla="*/ 1687612 h 1687612"/>
              <a:gd name="connsiteX6" fmla="*/ 0 w 1687613"/>
              <a:gd name="connsiteY6" fmla="*/ 1406338 h 1687612"/>
              <a:gd name="connsiteX7" fmla="*/ 0 w 1687613"/>
              <a:gd name="connsiteY7" fmla="*/ 281274 h 1687612"/>
              <a:gd name="connsiteX8" fmla="*/ 281274 w 1687613"/>
              <a:gd name="connsiteY8" fmla="*/ 0 h 1687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7613" h="1687612">
                <a:moveTo>
                  <a:pt x="281274" y="0"/>
                </a:moveTo>
                <a:lnTo>
                  <a:pt x="1406339" y="0"/>
                </a:lnTo>
                <a:cubicBezTo>
                  <a:pt x="1561682" y="0"/>
                  <a:pt x="1687613" y="125931"/>
                  <a:pt x="1687613" y="281274"/>
                </a:cubicBezTo>
                <a:lnTo>
                  <a:pt x="1687613" y="1406338"/>
                </a:lnTo>
                <a:cubicBezTo>
                  <a:pt x="1687613" y="1561681"/>
                  <a:pt x="1561682" y="1687612"/>
                  <a:pt x="1406339" y="1687612"/>
                </a:cubicBezTo>
                <a:lnTo>
                  <a:pt x="281274" y="1687612"/>
                </a:lnTo>
                <a:cubicBezTo>
                  <a:pt x="125931" y="1687612"/>
                  <a:pt x="0" y="1561681"/>
                  <a:pt x="0" y="1406338"/>
                </a:cubicBezTo>
                <a:lnTo>
                  <a:pt x="0" y="281274"/>
                </a:lnTo>
                <a:cubicBezTo>
                  <a:pt x="0" y="125931"/>
                  <a:pt x="125931" y="0"/>
                  <a:pt x="281274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  <a:effectLst>
            <a:outerShdw blurRad="203200" dist="63500" dir="5400000" algn="t" rotWithShape="0">
              <a:prstClr val="black">
                <a:alpha val="7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>
              <a:defRPr lang="zh-CN" altLang="en-US" sz="180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6" name="任意多边形: 形状 15"/>
          <p:cNvSpPr>
            <a:spLocks noGrp="1"/>
          </p:cNvSpPr>
          <p:nvPr>
            <p:ph type="pic" sz="quarter" idx="14"/>
          </p:nvPr>
        </p:nvSpPr>
        <p:spPr>
          <a:xfrm>
            <a:off x="9155460" y="1909227"/>
            <a:ext cx="1687613" cy="1687612"/>
          </a:xfrm>
          <a:custGeom>
            <a:avLst/>
            <a:gdLst>
              <a:gd name="connsiteX0" fmla="*/ 281274 w 1687613"/>
              <a:gd name="connsiteY0" fmla="*/ 0 h 1687612"/>
              <a:gd name="connsiteX1" fmla="*/ 1406339 w 1687613"/>
              <a:gd name="connsiteY1" fmla="*/ 0 h 1687612"/>
              <a:gd name="connsiteX2" fmla="*/ 1687613 w 1687613"/>
              <a:gd name="connsiteY2" fmla="*/ 281274 h 1687612"/>
              <a:gd name="connsiteX3" fmla="*/ 1687613 w 1687613"/>
              <a:gd name="connsiteY3" fmla="*/ 1406338 h 1687612"/>
              <a:gd name="connsiteX4" fmla="*/ 1406339 w 1687613"/>
              <a:gd name="connsiteY4" fmla="*/ 1687612 h 1687612"/>
              <a:gd name="connsiteX5" fmla="*/ 281274 w 1687613"/>
              <a:gd name="connsiteY5" fmla="*/ 1687612 h 1687612"/>
              <a:gd name="connsiteX6" fmla="*/ 0 w 1687613"/>
              <a:gd name="connsiteY6" fmla="*/ 1406338 h 1687612"/>
              <a:gd name="connsiteX7" fmla="*/ 0 w 1687613"/>
              <a:gd name="connsiteY7" fmla="*/ 281274 h 1687612"/>
              <a:gd name="connsiteX8" fmla="*/ 281274 w 1687613"/>
              <a:gd name="connsiteY8" fmla="*/ 0 h 1687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7613" h="1687612">
                <a:moveTo>
                  <a:pt x="281274" y="0"/>
                </a:moveTo>
                <a:lnTo>
                  <a:pt x="1406339" y="0"/>
                </a:lnTo>
                <a:cubicBezTo>
                  <a:pt x="1561682" y="0"/>
                  <a:pt x="1687613" y="125931"/>
                  <a:pt x="1687613" y="281274"/>
                </a:cubicBezTo>
                <a:lnTo>
                  <a:pt x="1687613" y="1406338"/>
                </a:lnTo>
                <a:cubicBezTo>
                  <a:pt x="1687613" y="1561681"/>
                  <a:pt x="1561682" y="1687612"/>
                  <a:pt x="1406339" y="1687612"/>
                </a:cubicBezTo>
                <a:lnTo>
                  <a:pt x="281274" y="1687612"/>
                </a:lnTo>
                <a:cubicBezTo>
                  <a:pt x="125931" y="1687612"/>
                  <a:pt x="0" y="1561681"/>
                  <a:pt x="0" y="1406338"/>
                </a:cubicBezTo>
                <a:lnTo>
                  <a:pt x="0" y="281274"/>
                </a:lnTo>
                <a:cubicBezTo>
                  <a:pt x="0" y="125931"/>
                  <a:pt x="125931" y="0"/>
                  <a:pt x="281274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  <a:effectLst>
            <a:outerShdw blurRad="203200" dist="63500" dir="5400000" algn="t" rotWithShape="0">
              <a:prstClr val="black">
                <a:alpha val="7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>
              <a:defRPr lang="zh-CN" altLang="en-US" sz="180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1433167" y="1872283"/>
            <a:ext cx="1853594" cy="1852976"/>
          </a:xfrm>
          <a:custGeom>
            <a:avLst/>
            <a:gdLst>
              <a:gd name="connsiteX0" fmla="*/ 926797 w 1853594"/>
              <a:gd name="connsiteY0" fmla="*/ 0 h 1852976"/>
              <a:gd name="connsiteX1" fmla="*/ 1853594 w 1853594"/>
              <a:gd name="connsiteY1" fmla="*/ 926488 h 1852976"/>
              <a:gd name="connsiteX2" fmla="*/ 926797 w 1853594"/>
              <a:gd name="connsiteY2" fmla="*/ 1852976 h 1852976"/>
              <a:gd name="connsiteX3" fmla="*/ 0 w 1853594"/>
              <a:gd name="connsiteY3" fmla="*/ 926488 h 1852976"/>
              <a:gd name="connsiteX4" fmla="*/ 926797 w 1853594"/>
              <a:gd name="connsiteY4" fmla="*/ 0 h 1852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594" h="1852976">
                <a:moveTo>
                  <a:pt x="926797" y="0"/>
                </a:moveTo>
                <a:cubicBezTo>
                  <a:pt x="1438653" y="0"/>
                  <a:pt x="1853594" y="414803"/>
                  <a:pt x="1853594" y="926488"/>
                </a:cubicBezTo>
                <a:cubicBezTo>
                  <a:pt x="1853594" y="1438173"/>
                  <a:pt x="1438653" y="1852976"/>
                  <a:pt x="926797" y="1852976"/>
                </a:cubicBezTo>
                <a:cubicBezTo>
                  <a:pt x="414941" y="1852976"/>
                  <a:pt x="0" y="1438173"/>
                  <a:pt x="0" y="926488"/>
                </a:cubicBezTo>
                <a:cubicBezTo>
                  <a:pt x="0" y="414803"/>
                  <a:pt x="414941" y="0"/>
                  <a:pt x="926797" y="0"/>
                </a:cubicBezTo>
                <a:close/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3923858" y="1872283"/>
            <a:ext cx="1853594" cy="1852976"/>
          </a:xfrm>
          <a:custGeom>
            <a:avLst/>
            <a:gdLst>
              <a:gd name="connsiteX0" fmla="*/ 926797 w 1853594"/>
              <a:gd name="connsiteY0" fmla="*/ 0 h 1852976"/>
              <a:gd name="connsiteX1" fmla="*/ 1853594 w 1853594"/>
              <a:gd name="connsiteY1" fmla="*/ 926488 h 1852976"/>
              <a:gd name="connsiteX2" fmla="*/ 926797 w 1853594"/>
              <a:gd name="connsiteY2" fmla="*/ 1852976 h 1852976"/>
              <a:gd name="connsiteX3" fmla="*/ 0 w 1853594"/>
              <a:gd name="connsiteY3" fmla="*/ 926488 h 1852976"/>
              <a:gd name="connsiteX4" fmla="*/ 926797 w 1853594"/>
              <a:gd name="connsiteY4" fmla="*/ 0 h 1852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594" h="1852976">
                <a:moveTo>
                  <a:pt x="926797" y="0"/>
                </a:moveTo>
                <a:cubicBezTo>
                  <a:pt x="1438653" y="0"/>
                  <a:pt x="1853594" y="414803"/>
                  <a:pt x="1853594" y="926488"/>
                </a:cubicBezTo>
                <a:cubicBezTo>
                  <a:pt x="1853594" y="1438173"/>
                  <a:pt x="1438653" y="1852976"/>
                  <a:pt x="926797" y="1852976"/>
                </a:cubicBezTo>
                <a:cubicBezTo>
                  <a:pt x="414941" y="1852976"/>
                  <a:pt x="0" y="1438173"/>
                  <a:pt x="0" y="926488"/>
                </a:cubicBezTo>
                <a:cubicBezTo>
                  <a:pt x="0" y="414803"/>
                  <a:pt x="414941" y="0"/>
                  <a:pt x="926797" y="0"/>
                </a:cubicBezTo>
                <a:close/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414549" y="1872283"/>
            <a:ext cx="1853594" cy="1852976"/>
          </a:xfrm>
          <a:custGeom>
            <a:avLst/>
            <a:gdLst>
              <a:gd name="connsiteX0" fmla="*/ 926797 w 1853594"/>
              <a:gd name="connsiteY0" fmla="*/ 0 h 1852976"/>
              <a:gd name="connsiteX1" fmla="*/ 1853594 w 1853594"/>
              <a:gd name="connsiteY1" fmla="*/ 926488 h 1852976"/>
              <a:gd name="connsiteX2" fmla="*/ 926797 w 1853594"/>
              <a:gd name="connsiteY2" fmla="*/ 1852976 h 1852976"/>
              <a:gd name="connsiteX3" fmla="*/ 0 w 1853594"/>
              <a:gd name="connsiteY3" fmla="*/ 926488 h 1852976"/>
              <a:gd name="connsiteX4" fmla="*/ 926797 w 1853594"/>
              <a:gd name="connsiteY4" fmla="*/ 0 h 1852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594" h="1852976">
                <a:moveTo>
                  <a:pt x="926797" y="0"/>
                </a:moveTo>
                <a:cubicBezTo>
                  <a:pt x="1438653" y="0"/>
                  <a:pt x="1853594" y="414803"/>
                  <a:pt x="1853594" y="926488"/>
                </a:cubicBezTo>
                <a:cubicBezTo>
                  <a:pt x="1853594" y="1438173"/>
                  <a:pt x="1438653" y="1852976"/>
                  <a:pt x="926797" y="1852976"/>
                </a:cubicBezTo>
                <a:cubicBezTo>
                  <a:pt x="414941" y="1852976"/>
                  <a:pt x="0" y="1438173"/>
                  <a:pt x="0" y="926488"/>
                </a:cubicBezTo>
                <a:cubicBezTo>
                  <a:pt x="0" y="414803"/>
                  <a:pt x="414941" y="0"/>
                  <a:pt x="926797" y="0"/>
                </a:cubicBezTo>
                <a:close/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8905240" y="1872283"/>
            <a:ext cx="1853594" cy="1852976"/>
          </a:xfrm>
          <a:custGeom>
            <a:avLst/>
            <a:gdLst>
              <a:gd name="connsiteX0" fmla="*/ 926797 w 1853594"/>
              <a:gd name="connsiteY0" fmla="*/ 0 h 1852976"/>
              <a:gd name="connsiteX1" fmla="*/ 1853594 w 1853594"/>
              <a:gd name="connsiteY1" fmla="*/ 926488 h 1852976"/>
              <a:gd name="connsiteX2" fmla="*/ 926797 w 1853594"/>
              <a:gd name="connsiteY2" fmla="*/ 1852976 h 1852976"/>
              <a:gd name="connsiteX3" fmla="*/ 0 w 1853594"/>
              <a:gd name="connsiteY3" fmla="*/ 926488 h 1852976"/>
              <a:gd name="connsiteX4" fmla="*/ 926797 w 1853594"/>
              <a:gd name="connsiteY4" fmla="*/ 0 h 1852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594" h="1852976">
                <a:moveTo>
                  <a:pt x="926797" y="0"/>
                </a:moveTo>
                <a:cubicBezTo>
                  <a:pt x="1438653" y="0"/>
                  <a:pt x="1853594" y="414803"/>
                  <a:pt x="1853594" y="926488"/>
                </a:cubicBezTo>
                <a:cubicBezTo>
                  <a:pt x="1853594" y="1438173"/>
                  <a:pt x="1438653" y="1852976"/>
                  <a:pt x="926797" y="1852976"/>
                </a:cubicBezTo>
                <a:cubicBezTo>
                  <a:pt x="414941" y="1852976"/>
                  <a:pt x="0" y="1438173"/>
                  <a:pt x="0" y="926488"/>
                </a:cubicBezTo>
                <a:cubicBezTo>
                  <a:pt x="0" y="414803"/>
                  <a:pt x="414941" y="0"/>
                  <a:pt x="926797" y="0"/>
                </a:cubicBezTo>
                <a:close/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718346" y="1770745"/>
            <a:ext cx="2444216" cy="3846285"/>
          </a:xfrm>
          <a:custGeom>
            <a:avLst/>
            <a:gdLst>
              <a:gd name="connsiteX0" fmla="*/ 0 w 2444216"/>
              <a:gd name="connsiteY0" fmla="*/ 0 h 3846285"/>
              <a:gd name="connsiteX1" fmla="*/ 2444216 w 2444216"/>
              <a:gd name="connsiteY1" fmla="*/ 0 h 3846285"/>
              <a:gd name="connsiteX2" fmla="*/ 2444216 w 2444216"/>
              <a:gd name="connsiteY2" fmla="*/ 3846285 h 3846285"/>
              <a:gd name="connsiteX3" fmla="*/ 0 w 2444216"/>
              <a:gd name="connsiteY3" fmla="*/ 3846285 h 3846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4216" h="3846285">
                <a:moveTo>
                  <a:pt x="0" y="0"/>
                </a:moveTo>
                <a:lnTo>
                  <a:pt x="2444216" y="0"/>
                </a:lnTo>
                <a:lnTo>
                  <a:pt x="2444216" y="3846285"/>
                </a:lnTo>
                <a:lnTo>
                  <a:pt x="0" y="384628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3496384" y="1770745"/>
            <a:ext cx="2444216" cy="3846285"/>
          </a:xfrm>
          <a:custGeom>
            <a:avLst/>
            <a:gdLst>
              <a:gd name="connsiteX0" fmla="*/ 0 w 2444216"/>
              <a:gd name="connsiteY0" fmla="*/ 0 h 3846285"/>
              <a:gd name="connsiteX1" fmla="*/ 2444216 w 2444216"/>
              <a:gd name="connsiteY1" fmla="*/ 0 h 3846285"/>
              <a:gd name="connsiteX2" fmla="*/ 2444216 w 2444216"/>
              <a:gd name="connsiteY2" fmla="*/ 3846285 h 3846285"/>
              <a:gd name="connsiteX3" fmla="*/ 0 w 2444216"/>
              <a:gd name="connsiteY3" fmla="*/ 3846285 h 3846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4216" h="3846285">
                <a:moveTo>
                  <a:pt x="0" y="0"/>
                </a:moveTo>
                <a:lnTo>
                  <a:pt x="2444216" y="0"/>
                </a:lnTo>
                <a:lnTo>
                  <a:pt x="2444216" y="3846285"/>
                </a:lnTo>
                <a:lnTo>
                  <a:pt x="0" y="384628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274422" y="1770745"/>
            <a:ext cx="2444216" cy="3846285"/>
          </a:xfrm>
          <a:custGeom>
            <a:avLst/>
            <a:gdLst>
              <a:gd name="connsiteX0" fmla="*/ 0 w 2444216"/>
              <a:gd name="connsiteY0" fmla="*/ 0 h 3846285"/>
              <a:gd name="connsiteX1" fmla="*/ 2444216 w 2444216"/>
              <a:gd name="connsiteY1" fmla="*/ 0 h 3846285"/>
              <a:gd name="connsiteX2" fmla="*/ 2444216 w 2444216"/>
              <a:gd name="connsiteY2" fmla="*/ 3846285 h 3846285"/>
              <a:gd name="connsiteX3" fmla="*/ 0 w 2444216"/>
              <a:gd name="connsiteY3" fmla="*/ 3846285 h 3846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4216" h="3846285">
                <a:moveTo>
                  <a:pt x="0" y="0"/>
                </a:moveTo>
                <a:lnTo>
                  <a:pt x="2444216" y="0"/>
                </a:lnTo>
                <a:lnTo>
                  <a:pt x="2444216" y="3846285"/>
                </a:lnTo>
                <a:lnTo>
                  <a:pt x="0" y="384628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9052459" y="1770745"/>
            <a:ext cx="2444216" cy="3846285"/>
          </a:xfrm>
          <a:custGeom>
            <a:avLst/>
            <a:gdLst>
              <a:gd name="connsiteX0" fmla="*/ 0 w 2444216"/>
              <a:gd name="connsiteY0" fmla="*/ 0 h 3846285"/>
              <a:gd name="connsiteX1" fmla="*/ 2444216 w 2444216"/>
              <a:gd name="connsiteY1" fmla="*/ 0 h 3846285"/>
              <a:gd name="connsiteX2" fmla="*/ 2444216 w 2444216"/>
              <a:gd name="connsiteY2" fmla="*/ 3846285 h 3846285"/>
              <a:gd name="connsiteX3" fmla="*/ 0 w 2444216"/>
              <a:gd name="connsiteY3" fmla="*/ 3846285 h 3846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4216" h="3846285">
                <a:moveTo>
                  <a:pt x="0" y="0"/>
                </a:moveTo>
                <a:lnTo>
                  <a:pt x="2444216" y="0"/>
                </a:lnTo>
                <a:lnTo>
                  <a:pt x="2444216" y="3846285"/>
                </a:lnTo>
                <a:lnTo>
                  <a:pt x="0" y="384628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816621" y="1981200"/>
            <a:ext cx="2750984" cy="1719365"/>
          </a:xfrm>
          <a:custGeom>
            <a:avLst/>
            <a:gdLst>
              <a:gd name="connsiteX0" fmla="*/ 106515 w 2750984"/>
              <a:gd name="connsiteY0" fmla="*/ 0 h 1719365"/>
              <a:gd name="connsiteX1" fmla="*/ 2644469 w 2750984"/>
              <a:gd name="connsiteY1" fmla="*/ 0 h 1719365"/>
              <a:gd name="connsiteX2" fmla="*/ 2750984 w 2750984"/>
              <a:gd name="connsiteY2" fmla="*/ 106515 h 1719365"/>
              <a:gd name="connsiteX3" fmla="*/ 2750984 w 2750984"/>
              <a:gd name="connsiteY3" fmla="*/ 1612850 h 1719365"/>
              <a:gd name="connsiteX4" fmla="*/ 2644469 w 2750984"/>
              <a:gd name="connsiteY4" fmla="*/ 1719365 h 1719365"/>
              <a:gd name="connsiteX5" fmla="*/ 106515 w 2750984"/>
              <a:gd name="connsiteY5" fmla="*/ 1719365 h 1719365"/>
              <a:gd name="connsiteX6" fmla="*/ 0 w 2750984"/>
              <a:gd name="connsiteY6" fmla="*/ 1612850 h 1719365"/>
              <a:gd name="connsiteX7" fmla="*/ 0 w 2750984"/>
              <a:gd name="connsiteY7" fmla="*/ 106515 h 1719365"/>
              <a:gd name="connsiteX8" fmla="*/ 106515 w 2750984"/>
              <a:gd name="connsiteY8" fmla="*/ 0 h 1719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50984" h="1719365">
                <a:moveTo>
                  <a:pt x="106515" y="0"/>
                </a:moveTo>
                <a:lnTo>
                  <a:pt x="2644469" y="0"/>
                </a:lnTo>
                <a:cubicBezTo>
                  <a:pt x="2703296" y="0"/>
                  <a:pt x="2750984" y="47688"/>
                  <a:pt x="2750984" y="106515"/>
                </a:cubicBezTo>
                <a:lnTo>
                  <a:pt x="2750984" y="1612850"/>
                </a:lnTo>
                <a:cubicBezTo>
                  <a:pt x="2750984" y="1671677"/>
                  <a:pt x="2703296" y="1719365"/>
                  <a:pt x="2644469" y="1719365"/>
                </a:cubicBezTo>
                <a:lnTo>
                  <a:pt x="106515" y="1719365"/>
                </a:lnTo>
                <a:cubicBezTo>
                  <a:pt x="47688" y="1719365"/>
                  <a:pt x="0" y="1671677"/>
                  <a:pt x="0" y="1612850"/>
                </a:cubicBezTo>
                <a:lnTo>
                  <a:pt x="0" y="106515"/>
                </a:lnTo>
                <a:cubicBezTo>
                  <a:pt x="0" y="47688"/>
                  <a:pt x="47688" y="0"/>
                  <a:pt x="1065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1"/>
          </p:nvPr>
        </p:nvSpPr>
        <p:spPr>
          <a:xfrm>
            <a:off x="7639387" y="1981200"/>
            <a:ext cx="2750984" cy="1719365"/>
          </a:xfrm>
          <a:custGeom>
            <a:avLst/>
            <a:gdLst>
              <a:gd name="connsiteX0" fmla="*/ 106515 w 2750984"/>
              <a:gd name="connsiteY0" fmla="*/ 0 h 1719365"/>
              <a:gd name="connsiteX1" fmla="*/ 2644469 w 2750984"/>
              <a:gd name="connsiteY1" fmla="*/ 0 h 1719365"/>
              <a:gd name="connsiteX2" fmla="*/ 2750984 w 2750984"/>
              <a:gd name="connsiteY2" fmla="*/ 106515 h 1719365"/>
              <a:gd name="connsiteX3" fmla="*/ 2750984 w 2750984"/>
              <a:gd name="connsiteY3" fmla="*/ 1612850 h 1719365"/>
              <a:gd name="connsiteX4" fmla="*/ 2644469 w 2750984"/>
              <a:gd name="connsiteY4" fmla="*/ 1719365 h 1719365"/>
              <a:gd name="connsiteX5" fmla="*/ 106515 w 2750984"/>
              <a:gd name="connsiteY5" fmla="*/ 1719365 h 1719365"/>
              <a:gd name="connsiteX6" fmla="*/ 0 w 2750984"/>
              <a:gd name="connsiteY6" fmla="*/ 1612850 h 1719365"/>
              <a:gd name="connsiteX7" fmla="*/ 0 w 2750984"/>
              <a:gd name="connsiteY7" fmla="*/ 106515 h 1719365"/>
              <a:gd name="connsiteX8" fmla="*/ 106515 w 2750984"/>
              <a:gd name="connsiteY8" fmla="*/ 0 h 1719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50984" h="1719365">
                <a:moveTo>
                  <a:pt x="106515" y="0"/>
                </a:moveTo>
                <a:lnTo>
                  <a:pt x="2644469" y="0"/>
                </a:lnTo>
                <a:cubicBezTo>
                  <a:pt x="2703296" y="0"/>
                  <a:pt x="2750984" y="47688"/>
                  <a:pt x="2750984" y="106515"/>
                </a:cubicBezTo>
                <a:lnTo>
                  <a:pt x="2750984" y="1612850"/>
                </a:lnTo>
                <a:cubicBezTo>
                  <a:pt x="2750984" y="1671677"/>
                  <a:pt x="2703296" y="1719365"/>
                  <a:pt x="2644469" y="1719365"/>
                </a:cubicBezTo>
                <a:lnTo>
                  <a:pt x="106515" y="1719365"/>
                </a:lnTo>
                <a:cubicBezTo>
                  <a:pt x="47688" y="1719365"/>
                  <a:pt x="0" y="1671677"/>
                  <a:pt x="0" y="1612850"/>
                </a:cubicBezTo>
                <a:lnTo>
                  <a:pt x="0" y="106515"/>
                </a:lnTo>
                <a:cubicBezTo>
                  <a:pt x="0" y="47688"/>
                  <a:pt x="47688" y="0"/>
                  <a:pt x="1065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2"/>
          </p:nvPr>
        </p:nvSpPr>
        <p:spPr>
          <a:xfrm>
            <a:off x="4739541" y="3878161"/>
            <a:ext cx="2750984" cy="1719365"/>
          </a:xfrm>
          <a:custGeom>
            <a:avLst/>
            <a:gdLst>
              <a:gd name="connsiteX0" fmla="*/ 106515 w 2750984"/>
              <a:gd name="connsiteY0" fmla="*/ 0 h 1719365"/>
              <a:gd name="connsiteX1" fmla="*/ 2644469 w 2750984"/>
              <a:gd name="connsiteY1" fmla="*/ 0 h 1719365"/>
              <a:gd name="connsiteX2" fmla="*/ 2750984 w 2750984"/>
              <a:gd name="connsiteY2" fmla="*/ 106515 h 1719365"/>
              <a:gd name="connsiteX3" fmla="*/ 2750984 w 2750984"/>
              <a:gd name="connsiteY3" fmla="*/ 1612850 h 1719365"/>
              <a:gd name="connsiteX4" fmla="*/ 2644469 w 2750984"/>
              <a:gd name="connsiteY4" fmla="*/ 1719365 h 1719365"/>
              <a:gd name="connsiteX5" fmla="*/ 106515 w 2750984"/>
              <a:gd name="connsiteY5" fmla="*/ 1719365 h 1719365"/>
              <a:gd name="connsiteX6" fmla="*/ 0 w 2750984"/>
              <a:gd name="connsiteY6" fmla="*/ 1612850 h 1719365"/>
              <a:gd name="connsiteX7" fmla="*/ 0 w 2750984"/>
              <a:gd name="connsiteY7" fmla="*/ 106515 h 1719365"/>
              <a:gd name="connsiteX8" fmla="*/ 106515 w 2750984"/>
              <a:gd name="connsiteY8" fmla="*/ 0 h 1719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50984" h="1719365">
                <a:moveTo>
                  <a:pt x="106515" y="0"/>
                </a:moveTo>
                <a:lnTo>
                  <a:pt x="2644469" y="0"/>
                </a:lnTo>
                <a:cubicBezTo>
                  <a:pt x="2703296" y="0"/>
                  <a:pt x="2750984" y="47688"/>
                  <a:pt x="2750984" y="106515"/>
                </a:cubicBezTo>
                <a:lnTo>
                  <a:pt x="2750984" y="1612850"/>
                </a:lnTo>
                <a:cubicBezTo>
                  <a:pt x="2750984" y="1671677"/>
                  <a:pt x="2703296" y="1719365"/>
                  <a:pt x="2644469" y="1719365"/>
                </a:cubicBezTo>
                <a:lnTo>
                  <a:pt x="106515" y="1719365"/>
                </a:lnTo>
                <a:cubicBezTo>
                  <a:pt x="47688" y="1719365"/>
                  <a:pt x="0" y="1671677"/>
                  <a:pt x="0" y="1612850"/>
                </a:cubicBezTo>
                <a:lnTo>
                  <a:pt x="0" y="106515"/>
                </a:lnTo>
                <a:cubicBezTo>
                  <a:pt x="0" y="47688"/>
                  <a:pt x="47688" y="0"/>
                  <a:pt x="1065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1343472" y="2101308"/>
            <a:ext cx="2376264" cy="1705156"/>
          </a:xfrm>
          <a:custGeom>
            <a:avLst/>
            <a:gdLst>
              <a:gd name="connsiteX0" fmla="*/ 0 w 2376264"/>
              <a:gd name="connsiteY0" fmla="*/ 0 h 1705156"/>
              <a:gd name="connsiteX1" fmla="*/ 2376264 w 2376264"/>
              <a:gd name="connsiteY1" fmla="*/ 0 h 1705156"/>
              <a:gd name="connsiteX2" fmla="*/ 2376264 w 2376264"/>
              <a:gd name="connsiteY2" fmla="*/ 1705156 h 1705156"/>
              <a:gd name="connsiteX3" fmla="*/ 0 w 2376264"/>
              <a:gd name="connsiteY3" fmla="*/ 1705156 h 1705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6264" h="1705156">
                <a:moveTo>
                  <a:pt x="0" y="0"/>
                </a:moveTo>
                <a:lnTo>
                  <a:pt x="2376264" y="0"/>
                </a:lnTo>
                <a:lnTo>
                  <a:pt x="2376264" y="1705156"/>
                </a:lnTo>
                <a:lnTo>
                  <a:pt x="0" y="1705156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1"/>
          </p:nvPr>
        </p:nvSpPr>
        <p:spPr>
          <a:xfrm>
            <a:off x="3719736" y="3806464"/>
            <a:ext cx="2376264" cy="1705158"/>
          </a:xfrm>
          <a:custGeom>
            <a:avLst/>
            <a:gdLst>
              <a:gd name="connsiteX0" fmla="*/ 0 w 2376264"/>
              <a:gd name="connsiteY0" fmla="*/ 0 h 1705158"/>
              <a:gd name="connsiteX1" fmla="*/ 2376264 w 2376264"/>
              <a:gd name="connsiteY1" fmla="*/ 0 h 1705158"/>
              <a:gd name="connsiteX2" fmla="*/ 2376264 w 2376264"/>
              <a:gd name="connsiteY2" fmla="*/ 1705158 h 1705158"/>
              <a:gd name="connsiteX3" fmla="*/ 0 w 2376264"/>
              <a:gd name="connsiteY3" fmla="*/ 1705158 h 170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6264" h="1705158">
                <a:moveTo>
                  <a:pt x="0" y="0"/>
                </a:moveTo>
                <a:lnTo>
                  <a:pt x="2376264" y="0"/>
                </a:lnTo>
                <a:lnTo>
                  <a:pt x="2376264" y="1705158"/>
                </a:lnTo>
                <a:lnTo>
                  <a:pt x="0" y="1705158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6096000" y="2101308"/>
            <a:ext cx="2376264" cy="1705156"/>
          </a:xfrm>
          <a:custGeom>
            <a:avLst/>
            <a:gdLst>
              <a:gd name="connsiteX0" fmla="*/ 0 w 2376264"/>
              <a:gd name="connsiteY0" fmla="*/ 0 h 1705156"/>
              <a:gd name="connsiteX1" fmla="*/ 2376264 w 2376264"/>
              <a:gd name="connsiteY1" fmla="*/ 0 h 1705156"/>
              <a:gd name="connsiteX2" fmla="*/ 2376264 w 2376264"/>
              <a:gd name="connsiteY2" fmla="*/ 1705156 h 1705156"/>
              <a:gd name="connsiteX3" fmla="*/ 0 w 2376264"/>
              <a:gd name="connsiteY3" fmla="*/ 1705156 h 1705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6264" h="1705156">
                <a:moveTo>
                  <a:pt x="0" y="0"/>
                </a:moveTo>
                <a:lnTo>
                  <a:pt x="2376264" y="0"/>
                </a:lnTo>
                <a:lnTo>
                  <a:pt x="2376264" y="1705156"/>
                </a:lnTo>
                <a:lnTo>
                  <a:pt x="0" y="1705156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8472264" y="3806464"/>
            <a:ext cx="2376264" cy="1705158"/>
          </a:xfrm>
          <a:custGeom>
            <a:avLst/>
            <a:gdLst>
              <a:gd name="connsiteX0" fmla="*/ 0 w 2376264"/>
              <a:gd name="connsiteY0" fmla="*/ 0 h 1705158"/>
              <a:gd name="connsiteX1" fmla="*/ 2376264 w 2376264"/>
              <a:gd name="connsiteY1" fmla="*/ 0 h 1705158"/>
              <a:gd name="connsiteX2" fmla="*/ 2376264 w 2376264"/>
              <a:gd name="connsiteY2" fmla="*/ 1705158 h 1705158"/>
              <a:gd name="connsiteX3" fmla="*/ 0 w 2376264"/>
              <a:gd name="connsiteY3" fmla="*/ 1705158 h 170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6264" h="1705158">
                <a:moveTo>
                  <a:pt x="0" y="0"/>
                </a:moveTo>
                <a:lnTo>
                  <a:pt x="2376264" y="0"/>
                </a:lnTo>
                <a:lnTo>
                  <a:pt x="2376264" y="1705158"/>
                </a:lnTo>
                <a:lnTo>
                  <a:pt x="0" y="1705158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1540122" y="2138763"/>
            <a:ext cx="2128676" cy="2128676"/>
          </a:xfrm>
          <a:custGeom>
            <a:avLst/>
            <a:gdLst>
              <a:gd name="connsiteX0" fmla="*/ 1064506 w 2128676"/>
              <a:gd name="connsiteY0" fmla="*/ 0 h 2128676"/>
              <a:gd name="connsiteX1" fmla="*/ 1261062 w 2128676"/>
              <a:gd name="connsiteY1" fmla="*/ 81417 h 2128676"/>
              <a:gd name="connsiteX2" fmla="*/ 2047260 w 2128676"/>
              <a:gd name="connsiteY2" fmla="*/ 867615 h 2128676"/>
              <a:gd name="connsiteX3" fmla="*/ 2047260 w 2128676"/>
              <a:gd name="connsiteY3" fmla="*/ 1260726 h 2128676"/>
              <a:gd name="connsiteX4" fmla="*/ 1260726 w 2128676"/>
              <a:gd name="connsiteY4" fmla="*/ 2047260 h 2128676"/>
              <a:gd name="connsiteX5" fmla="*/ 867615 w 2128676"/>
              <a:gd name="connsiteY5" fmla="*/ 2047260 h 2128676"/>
              <a:gd name="connsiteX6" fmla="*/ 81417 w 2128676"/>
              <a:gd name="connsiteY6" fmla="*/ 1261062 h 2128676"/>
              <a:gd name="connsiteX7" fmla="*/ 81417 w 2128676"/>
              <a:gd name="connsiteY7" fmla="*/ 867950 h 2128676"/>
              <a:gd name="connsiteX8" fmla="*/ 867950 w 2128676"/>
              <a:gd name="connsiteY8" fmla="*/ 81417 h 2128676"/>
              <a:gd name="connsiteX9" fmla="*/ 1064506 w 2128676"/>
              <a:gd name="connsiteY9" fmla="*/ 0 h 2128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8676" h="2128676">
                <a:moveTo>
                  <a:pt x="1064506" y="0"/>
                </a:moveTo>
                <a:cubicBezTo>
                  <a:pt x="1135645" y="0"/>
                  <a:pt x="1206784" y="27139"/>
                  <a:pt x="1261062" y="81417"/>
                </a:cubicBezTo>
                <a:lnTo>
                  <a:pt x="2047260" y="867615"/>
                </a:lnTo>
                <a:cubicBezTo>
                  <a:pt x="2155815" y="976170"/>
                  <a:pt x="2155815" y="1152171"/>
                  <a:pt x="2047260" y="1260726"/>
                </a:cubicBezTo>
                <a:lnTo>
                  <a:pt x="1260726" y="2047260"/>
                </a:lnTo>
                <a:cubicBezTo>
                  <a:pt x="1152171" y="2155815"/>
                  <a:pt x="976170" y="2155815"/>
                  <a:pt x="867615" y="2047260"/>
                </a:cubicBezTo>
                <a:lnTo>
                  <a:pt x="81417" y="1261062"/>
                </a:lnTo>
                <a:cubicBezTo>
                  <a:pt x="-27138" y="1152507"/>
                  <a:pt x="-27138" y="976505"/>
                  <a:pt x="81417" y="867950"/>
                </a:cubicBezTo>
                <a:lnTo>
                  <a:pt x="867950" y="81417"/>
                </a:lnTo>
                <a:cubicBezTo>
                  <a:pt x="922227" y="27139"/>
                  <a:pt x="993367" y="0"/>
                  <a:pt x="10645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3867815" y="2138763"/>
            <a:ext cx="2128676" cy="2128676"/>
          </a:xfrm>
          <a:custGeom>
            <a:avLst/>
            <a:gdLst>
              <a:gd name="connsiteX0" fmla="*/ 1064506 w 2128676"/>
              <a:gd name="connsiteY0" fmla="*/ 0 h 2128676"/>
              <a:gd name="connsiteX1" fmla="*/ 1261062 w 2128676"/>
              <a:gd name="connsiteY1" fmla="*/ 81417 h 2128676"/>
              <a:gd name="connsiteX2" fmla="*/ 2047260 w 2128676"/>
              <a:gd name="connsiteY2" fmla="*/ 867615 h 2128676"/>
              <a:gd name="connsiteX3" fmla="*/ 2047260 w 2128676"/>
              <a:gd name="connsiteY3" fmla="*/ 1260726 h 2128676"/>
              <a:gd name="connsiteX4" fmla="*/ 1260727 w 2128676"/>
              <a:gd name="connsiteY4" fmla="*/ 2047260 h 2128676"/>
              <a:gd name="connsiteX5" fmla="*/ 867615 w 2128676"/>
              <a:gd name="connsiteY5" fmla="*/ 2047260 h 2128676"/>
              <a:gd name="connsiteX6" fmla="*/ 81417 w 2128676"/>
              <a:gd name="connsiteY6" fmla="*/ 1261062 h 2128676"/>
              <a:gd name="connsiteX7" fmla="*/ 81417 w 2128676"/>
              <a:gd name="connsiteY7" fmla="*/ 867950 h 2128676"/>
              <a:gd name="connsiteX8" fmla="*/ 867950 w 2128676"/>
              <a:gd name="connsiteY8" fmla="*/ 81417 h 2128676"/>
              <a:gd name="connsiteX9" fmla="*/ 1064506 w 2128676"/>
              <a:gd name="connsiteY9" fmla="*/ 0 h 2128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8676" h="2128676">
                <a:moveTo>
                  <a:pt x="1064506" y="0"/>
                </a:moveTo>
                <a:cubicBezTo>
                  <a:pt x="1135645" y="0"/>
                  <a:pt x="1206784" y="27139"/>
                  <a:pt x="1261062" y="81417"/>
                </a:cubicBezTo>
                <a:lnTo>
                  <a:pt x="2047260" y="867615"/>
                </a:lnTo>
                <a:cubicBezTo>
                  <a:pt x="2155815" y="976170"/>
                  <a:pt x="2155815" y="1152171"/>
                  <a:pt x="2047260" y="1260726"/>
                </a:cubicBezTo>
                <a:lnTo>
                  <a:pt x="1260727" y="2047260"/>
                </a:lnTo>
                <a:cubicBezTo>
                  <a:pt x="1152172" y="2155815"/>
                  <a:pt x="976170" y="2155815"/>
                  <a:pt x="867615" y="2047260"/>
                </a:cubicBezTo>
                <a:lnTo>
                  <a:pt x="81417" y="1261062"/>
                </a:lnTo>
                <a:cubicBezTo>
                  <a:pt x="-27138" y="1152507"/>
                  <a:pt x="-27138" y="976505"/>
                  <a:pt x="81417" y="867950"/>
                </a:cubicBezTo>
                <a:lnTo>
                  <a:pt x="867950" y="81417"/>
                </a:lnTo>
                <a:cubicBezTo>
                  <a:pt x="922227" y="27139"/>
                  <a:pt x="993366" y="0"/>
                  <a:pt x="10645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195509" y="2138763"/>
            <a:ext cx="2128676" cy="2128676"/>
          </a:xfrm>
          <a:custGeom>
            <a:avLst/>
            <a:gdLst>
              <a:gd name="connsiteX0" fmla="*/ 1064506 w 2128676"/>
              <a:gd name="connsiteY0" fmla="*/ 0 h 2128676"/>
              <a:gd name="connsiteX1" fmla="*/ 1261062 w 2128676"/>
              <a:gd name="connsiteY1" fmla="*/ 81417 h 2128676"/>
              <a:gd name="connsiteX2" fmla="*/ 2047260 w 2128676"/>
              <a:gd name="connsiteY2" fmla="*/ 867615 h 2128676"/>
              <a:gd name="connsiteX3" fmla="*/ 2047260 w 2128676"/>
              <a:gd name="connsiteY3" fmla="*/ 1260726 h 2128676"/>
              <a:gd name="connsiteX4" fmla="*/ 1260727 w 2128676"/>
              <a:gd name="connsiteY4" fmla="*/ 2047260 h 2128676"/>
              <a:gd name="connsiteX5" fmla="*/ 867615 w 2128676"/>
              <a:gd name="connsiteY5" fmla="*/ 2047260 h 2128676"/>
              <a:gd name="connsiteX6" fmla="*/ 81417 w 2128676"/>
              <a:gd name="connsiteY6" fmla="*/ 1261062 h 2128676"/>
              <a:gd name="connsiteX7" fmla="*/ 81417 w 2128676"/>
              <a:gd name="connsiteY7" fmla="*/ 867950 h 2128676"/>
              <a:gd name="connsiteX8" fmla="*/ 867950 w 2128676"/>
              <a:gd name="connsiteY8" fmla="*/ 81417 h 2128676"/>
              <a:gd name="connsiteX9" fmla="*/ 1064506 w 2128676"/>
              <a:gd name="connsiteY9" fmla="*/ 0 h 2128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8676" h="2128676">
                <a:moveTo>
                  <a:pt x="1064506" y="0"/>
                </a:moveTo>
                <a:cubicBezTo>
                  <a:pt x="1135645" y="0"/>
                  <a:pt x="1206784" y="27139"/>
                  <a:pt x="1261062" y="81417"/>
                </a:cubicBezTo>
                <a:lnTo>
                  <a:pt x="2047260" y="867615"/>
                </a:lnTo>
                <a:cubicBezTo>
                  <a:pt x="2155815" y="976170"/>
                  <a:pt x="2155815" y="1152171"/>
                  <a:pt x="2047260" y="1260726"/>
                </a:cubicBezTo>
                <a:lnTo>
                  <a:pt x="1260727" y="2047260"/>
                </a:lnTo>
                <a:cubicBezTo>
                  <a:pt x="1152172" y="2155815"/>
                  <a:pt x="976170" y="2155815"/>
                  <a:pt x="867615" y="2047260"/>
                </a:cubicBezTo>
                <a:lnTo>
                  <a:pt x="81417" y="1261062"/>
                </a:lnTo>
                <a:cubicBezTo>
                  <a:pt x="-27138" y="1152507"/>
                  <a:pt x="-27138" y="976505"/>
                  <a:pt x="81417" y="867950"/>
                </a:cubicBezTo>
                <a:lnTo>
                  <a:pt x="867950" y="81417"/>
                </a:lnTo>
                <a:cubicBezTo>
                  <a:pt x="922227" y="27139"/>
                  <a:pt x="993367" y="0"/>
                  <a:pt x="10645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8523201" y="2138763"/>
            <a:ext cx="2128677" cy="2128676"/>
          </a:xfrm>
          <a:custGeom>
            <a:avLst/>
            <a:gdLst>
              <a:gd name="connsiteX0" fmla="*/ 1064507 w 2128677"/>
              <a:gd name="connsiteY0" fmla="*/ 0 h 2128676"/>
              <a:gd name="connsiteX1" fmla="*/ 1261062 w 2128677"/>
              <a:gd name="connsiteY1" fmla="*/ 81417 h 2128676"/>
              <a:gd name="connsiteX2" fmla="*/ 2047261 w 2128677"/>
              <a:gd name="connsiteY2" fmla="*/ 867615 h 2128676"/>
              <a:gd name="connsiteX3" fmla="*/ 2047261 w 2128677"/>
              <a:gd name="connsiteY3" fmla="*/ 1260726 h 2128676"/>
              <a:gd name="connsiteX4" fmla="*/ 1260727 w 2128677"/>
              <a:gd name="connsiteY4" fmla="*/ 2047260 h 2128676"/>
              <a:gd name="connsiteX5" fmla="*/ 867616 w 2128677"/>
              <a:gd name="connsiteY5" fmla="*/ 2047260 h 2128676"/>
              <a:gd name="connsiteX6" fmla="*/ 81417 w 2128677"/>
              <a:gd name="connsiteY6" fmla="*/ 1261062 h 2128676"/>
              <a:gd name="connsiteX7" fmla="*/ 81417 w 2128677"/>
              <a:gd name="connsiteY7" fmla="*/ 867950 h 2128676"/>
              <a:gd name="connsiteX8" fmla="*/ 867951 w 2128677"/>
              <a:gd name="connsiteY8" fmla="*/ 81417 h 2128676"/>
              <a:gd name="connsiteX9" fmla="*/ 1064507 w 2128677"/>
              <a:gd name="connsiteY9" fmla="*/ 0 h 2128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8677" h="2128676">
                <a:moveTo>
                  <a:pt x="1064507" y="0"/>
                </a:moveTo>
                <a:cubicBezTo>
                  <a:pt x="1135645" y="0"/>
                  <a:pt x="1206784" y="27139"/>
                  <a:pt x="1261062" y="81417"/>
                </a:cubicBezTo>
                <a:lnTo>
                  <a:pt x="2047261" y="867615"/>
                </a:lnTo>
                <a:cubicBezTo>
                  <a:pt x="2155816" y="976170"/>
                  <a:pt x="2155816" y="1152171"/>
                  <a:pt x="2047261" y="1260726"/>
                </a:cubicBezTo>
                <a:lnTo>
                  <a:pt x="1260727" y="2047260"/>
                </a:lnTo>
                <a:cubicBezTo>
                  <a:pt x="1152172" y="2155815"/>
                  <a:pt x="976171" y="2155815"/>
                  <a:pt x="867616" y="2047260"/>
                </a:cubicBezTo>
                <a:lnTo>
                  <a:pt x="81417" y="1261062"/>
                </a:lnTo>
                <a:cubicBezTo>
                  <a:pt x="-27138" y="1152507"/>
                  <a:pt x="-27138" y="976505"/>
                  <a:pt x="81417" y="867950"/>
                </a:cubicBezTo>
                <a:lnTo>
                  <a:pt x="867951" y="81417"/>
                </a:lnTo>
                <a:cubicBezTo>
                  <a:pt x="922229" y="27139"/>
                  <a:pt x="993368" y="0"/>
                  <a:pt x="106450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349834" y="2010341"/>
            <a:ext cx="2972256" cy="2446480"/>
          </a:xfrm>
          <a:custGeom>
            <a:avLst/>
            <a:gdLst>
              <a:gd name="connsiteX0" fmla="*/ 0 w 2972256"/>
              <a:gd name="connsiteY0" fmla="*/ 0 h 2446480"/>
              <a:gd name="connsiteX1" fmla="*/ 2972256 w 2972256"/>
              <a:gd name="connsiteY1" fmla="*/ 0 h 2446480"/>
              <a:gd name="connsiteX2" fmla="*/ 2972256 w 2972256"/>
              <a:gd name="connsiteY2" fmla="*/ 2446480 h 2446480"/>
              <a:gd name="connsiteX3" fmla="*/ 0 w 2972256"/>
              <a:gd name="connsiteY3" fmla="*/ 2446480 h 2446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2256" h="2446480">
                <a:moveTo>
                  <a:pt x="0" y="0"/>
                </a:moveTo>
                <a:lnTo>
                  <a:pt x="2972256" y="0"/>
                </a:lnTo>
                <a:lnTo>
                  <a:pt x="2972256" y="2446480"/>
                </a:lnTo>
                <a:lnTo>
                  <a:pt x="0" y="24464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4609874" y="2010345"/>
            <a:ext cx="2972256" cy="2446480"/>
          </a:xfrm>
          <a:custGeom>
            <a:avLst/>
            <a:gdLst>
              <a:gd name="connsiteX0" fmla="*/ 0 w 2972256"/>
              <a:gd name="connsiteY0" fmla="*/ 0 h 2446480"/>
              <a:gd name="connsiteX1" fmla="*/ 2972256 w 2972256"/>
              <a:gd name="connsiteY1" fmla="*/ 0 h 2446480"/>
              <a:gd name="connsiteX2" fmla="*/ 2972256 w 2972256"/>
              <a:gd name="connsiteY2" fmla="*/ 2446480 h 2446480"/>
              <a:gd name="connsiteX3" fmla="*/ 0 w 2972256"/>
              <a:gd name="connsiteY3" fmla="*/ 2446480 h 2446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2256" h="2446480">
                <a:moveTo>
                  <a:pt x="0" y="0"/>
                </a:moveTo>
                <a:lnTo>
                  <a:pt x="2972256" y="0"/>
                </a:lnTo>
                <a:lnTo>
                  <a:pt x="2972256" y="2446480"/>
                </a:lnTo>
                <a:lnTo>
                  <a:pt x="0" y="24464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7869910" y="2010345"/>
            <a:ext cx="2972256" cy="2446480"/>
          </a:xfrm>
          <a:custGeom>
            <a:avLst/>
            <a:gdLst>
              <a:gd name="connsiteX0" fmla="*/ 0 w 2972256"/>
              <a:gd name="connsiteY0" fmla="*/ 0 h 2446480"/>
              <a:gd name="connsiteX1" fmla="*/ 2972256 w 2972256"/>
              <a:gd name="connsiteY1" fmla="*/ 0 h 2446480"/>
              <a:gd name="connsiteX2" fmla="*/ 2972256 w 2972256"/>
              <a:gd name="connsiteY2" fmla="*/ 2446480 h 2446480"/>
              <a:gd name="connsiteX3" fmla="*/ 0 w 2972256"/>
              <a:gd name="connsiteY3" fmla="*/ 2446480 h 2446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2256" h="2446480">
                <a:moveTo>
                  <a:pt x="0" y="0"/>
                </a:moveTo>
                <a:lnTo>
                  <a:pt x="2972256" y="0"/>
                </a:lnTo>
                <a:lnTo>
                  <a:pt x="2972256" y="2446480"/>
                </a:lnTo>
                <a:lnTo>
                  <a:pt x="0" y="24464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1688560" y="2611566"/>
            <a:ext cx="1507576" cy="2514781"/>
          </a:xfrm>
          <a:custGeom>
            <a:avLst/>
            <a:gdLst>
              <a:gd name="connsiteX0" fmla="*/ 0 w 1507576"/>
              <a:gd name="connsiteY0" fmla="*/ 0 h 2514781"/>
              <a:gd name="connsiteX1" fmla="*/ 1507576 w 1507576"/>
              <a:gd name="connsiteY1" fmla="*/ 0 h 2514781"/>
              <a:gd name="connsiteX2" fmla="*/ 1507576 w 1507576"/>
              <a:gd name="connsiteY2" fmla="*/ 2514781 h 2514781"/>
              <a:gd name="connsiteX3" fmla="*/ 0 w 1507576"/>
              <a:gd name="connsiteY3" fmla="*/ 2514781 h 251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07576" h="2514781">
                <a:moveTo>
                  <a:pt x="0" y="0"/>
                </a:moveTo>
                <a:lnTo>
                  <a:pt x="1507576" y="0"/>
                </a:lnTo>
                <a:lnTo>
                  <a:pt x="1507576" y="2514781"/>
                </a:lnTo>
                <a:lnTo>
                  <a:pt x="0" y="251478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2805889" y="2417548"/>
            <a:ext cx="1740397" cy="2903148"/>
          </a:xfrm>
          <a:custGeom>
            <a:avLst/>
            <a:gdLst>
              <a:gd name="connsiteX0" fmla="*/ 0 w 1740397"/>
              <a:gd name="connsiteY0" fmla="*/ 0 h 2903148"/>
              <a:gd name="connsiteX1" fmla="*/ 1740397 w 1740397"/>
              <a:gd name="connsiteY1" fmla="*/ 0 h 2903148"/>
              <a:gd name="connsiteX2" fmla="*/ 1740397 w 1740397"/>
              <a:gd name="connsiteY2" fmla="*/ 2903148 h 2903148"/>
              <a:gd name="connsiteX3" fmla="*/ 0 w 1740397"/>
              <a:gd name="connsiteY3" fmla="*/ 2903148 h 290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0397" h="2903148">
                <a:moveTo>
                  <a:pt x="0" y="0"/>
                </a:moveTo>
                <a:lnTo>
                  <a:pt x="1740397" y="0"/>
                </a:lnTo>
                <a:lnTo>
                  <a:pt x="1740397" y="2903148"/>
                </a:lnTo>
                <a:lnTo>
                  <a:pt x="0" y="290314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4153872" y="2611566"/>
            <a:ext cx="1507576" cy="2514781"/>
          </a:xfrm>
          <a:custGeom>
            <a:avLst/>
            <a:gdLst>
              <a:gd name="connsiteX0" fmla="*/ 0 w 1507576"/>
              <a:gd name="connsiteY0" fmla="*/ 0 h 2514781"/>
              <a:gd name="connsiteX1" fmla="*/ 1507576 w 1507576"/>
              <a:gd name="connsiteY1" fmla="*/ 0 h 2514781"/>
              <a:gd name="connsiteX2" fmla="*/ 1507576 w 1507576"/>
              <a:gd name="connsiteY2" fmla="*/ 2514781 h 2514781"/>
              <a:gd name="connsiteX3" fmla="*/ 0 w 1507576"/>
              <a:gd name="connsiteY3" fmla="*/ 2514781 h 251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07576" h="2514781">
                <a:moveTo>
                  <a:pt x="0" y="0"/>
                </a:moveTo>
                <a:lnTo>
                  <a:pt x="1507576" y="0"/>
                </a:lnTo>
                <a:lnTo>
                  <a:pt x="1507576" y="2514781"/>
                </a:lnTo>
                <a:lnTo>
                  <a:pt x="0" y="251478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4318000" y="2971800"/>
            <a:ext cx="3556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感谢您下载包图网平台上提供的</a:t>
            </a:r>
            <a:r>
              <a:rPr lang="en-US" altLang="zh-CN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作品，为了您和包图网以及原创作者的利益，请勿复制、传播、销售，否则将承担法律责任！包图网将对作品进行维权，按照传播下载次数进行十倍的索取赔偿！</a:t>
            </a:r>
            <a:endParaRPr lang="zh-CN" altLang="en-US" sz="300" dirty="0">
              <a:solidFill>
                <a:schemeClr val="bg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sz="6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ibaotu.com</a:t>
            </a:r>
            <a:endParaRPr lang="en-US" altLang="zh-CN" sz="600" dirty="0">
              <a:solidFill>
                <a:schemeClr val="bg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2000" cy="32004"/>
          </a:xfrm>
          <a:prstGeom prst="rect">
            <a:avLst/>
          </a:prstGeom>
          <a:solidFill>
            <a:srgbClr val="AB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108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雾天交通视觉 · 图像增强 · 目标定位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6583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基于图像去雾与目标定位的</a:t>
            </a:r>
            <a:br>
              <a:rPr>
                <a:latin typeface="微软雅黑" panose="020B0503020204020204" pitchFamily="34" charset="-122"/>
              </a:rPr>
            </a:br>
            <a:r>
              <a:rPr>
                <a:latin typeface="微软雅黑" panose="020B0503020204020204" pitchFamily="34" charset="-122"/>
              </a:rPr>
              <a:t>雾天路标检测系统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6384" y="2852928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面向雾天场景，构建“去雾处理—路标检测—指标评价—可视化展示”的完整实验流程。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3977639"/>
            <a:ext cx="1239926" cy="658368"/>
          </a:xfrm>
          <a:prstGeom prst="roundRect">
            <a:avLst/>
          </a:prstGeom>
          <a:solidFill>
            <a:srgbClr val="AB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96511"/>
            <a:ext cx="114848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雾天图像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2094890" y="4206240"/>
            <a:ext cx="109728" cy="201168"/>
          </a:xfrm>
          <a:prstGeom prst="rightArrow">
            <a:avLst/>
          </a:prstGeom>
          <a:solidFill>
            <a:srgbClr val="5C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27478" y="3977639"/>
            <a:ext cx="1239926" cy="658368"/>
          </a:xfrm>
          <a:prstGeom prst="roundRect">
            <a:avLst/>
          </a:prstGeom>
          <a:solidFill>
            <a:srgbClr val="315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73198" y="4096511"/>
            <a:ext cx="114848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DCP 去雾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3499408" y="4206240"/>
            <a:ext cx="109728" cy="201168"/>
          </a:xfrm>
          <a:prstGeom prst="rightArrow">
            <a:avLst/>
          </a:prstGeom>
          <a:solidFill>
            <a:srgbClr val="5C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31996" y="3977639"/>
            <a:ext cx="1239926" cy="658368"/>
          </a:xfrm>
          <a:prstGeom prst="roundRect">
            <a:avLst/>
          </a:prstGeom>
          <a:solidFill>
            <a:srgbClr val="458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7716" y="4096511"/>
            <a:ext cx="114848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YOLOv8 检测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4903927" y="4206240"/>
            <a:ext cx="109728" cy="201168"/>
          </a:xfrm>
          <a:prstGeom prst="rightArrow">
            <a:avLst/>
          </a:prstGeom>
          <a:solidFill>
            <a:srgbClr val="5C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36515" y="3977639"/>
            <a:ext cx="1239926" cy="658368"/>
          </a:xfrm>
          <a:prstGeom prst="roundRect">
            <a:avLst/>
          </a:prstGeom>
          <a:solidFill>
            <a:srgbClr val="C4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2235" y="4096511"/>
            <a:ext cx="114848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指标对比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6308445" y="4206240"/>
            <a:ext cx="109728" cy="201168"/>
          </a:xfrm>
          <a:prstGeom prst="rightArrow">
            <a:avLst/>
          </a:prstGeom>
          <a:solidFill>
            <a:srgbClr val="5C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41033" y="3977639"/>
            <a:ext cx="1239926" cy="658368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6753" y="4096511"/>
            <a:ext cx="114848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系统展示</a:t>
            </a:r>
            <a:endParaRPr>
              <a:latin typeface="微软雅黑" panose="020B0503020204020204" pitchFamily="34" charset="-122"/>
            </a:endParaRPr>
          </a:p>
        </p:txBody>
      </p:sp>
      <p:pic>
        <p:nvPicPr>
          <p:cNvPr id="23" name="Picture 22" descr="foggy_contact_sheet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492250"/>
            <a:ext cx="3474720" cy="4102099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001000" y="1051560"/>
            <a:ext cx="3474720" cy="4983480"/>
          </a:xfrm>
          <a:prstGeom prst="roundRect">
            <a:avLst/>
          </a:prstGeom>
          <a:noFill/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199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课程项目答辩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04545" y="506285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汇报人：</a:t>
            </a:r>
            <a:r>
              <a:rPr lang="zh-CN" altLang="en-US"/>
              <a:t>卢可为</a:t>
            </a:r>
            <a:endParaRPr lang="zh-CN" altLang="en-US"/>
          </a:p>
          <a:p>
            <a:r>
              <a:rPr lang="zh-CN" altLang="en-US"/>
              <a:t>小组成员：卢可为，</a:t>
            </a:r>
            <a:r>
              <a:rPr lang="zh-CN" altLang="en-US"/>
              <a:t>陆康</a:t>
            </a:r>
            <a:endParaRPr lang="zh-CN" altLang="en-US"/>
          </a:p>
          <a:p>
            <a:r>
              <a:rPr lang="zh-CN" altLang="en-US"/>
              <a:t>指导老师：</a:t>
            </a:r>
            <a:r>
              <a:rPr lang="zh-CN" altLang="en-US"/>
              <a:t>曹桂涛</a:t>
            </a:r>
            <a:endParaRPr lang="zh-CN" altLang="en-US"/>
          </a:p>
        </p:txBody>
      </p:sp>
      <p:pic>
        <p:nvPicPr>
          <p:cNvPr id="28" name="图片 27" descr="logo800_164918584369415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65" y="50165"/>
            <a:ext cx="445135" cy="4305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2000" cy="32004"/>
          </a:xfrm>
          <a:prstGeom prst="rect">
            <a:avLst/>
          </a:prstGeom>
          <a:solidFill>
            <a:srgbClr val="AB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00584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背景与问题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02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雾天会削弱路标的可见线索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1353312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路标识别依赖颜色、形状和边缘。雾天会同时压低这些信息，检测模型的输入质量随之下降。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49808" y="1975104"/>
            <a:ext cx="32461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0976" y="2176272"/>
            <a:ext cx="530352" cy="292608"/>
          </a:xfrm>
          <a:prstGeom prst="roundRect">
            <a:avLst/>
          </a:prstGeom>
          <a:solidFill>
            <a:srgbClr val="AB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221991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01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2615184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对比度下降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3054096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图像整体发白，目标边界变弱。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61688" y="1975104"/>
            <a:ext cx="32461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62856" y="2176272"/>
            <a:ext cx="530352" cy="292608"/>
          </a:xfrm>
          <a:prstGeom prst="roundRect">
            <a:avLst/>
          </a:prstGeom>
          <a:solidFill>
            <a:srgbClr val="315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221991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02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17720" y="2615184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颜色辨识度降低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17720" y="3054096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红灯、绿灯、警告牌等类别更易混淆。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973568" y="1975104"/>
            <a:ext cx="32461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74736" y="2176272"/>
            <a:ext cx="530352" cy="292608"/>
          </a:xfrm>
          <a:prstGeom prst="roundRect">
            <a:avLst/>
          </a:prstGeom>
          <a:solidFill>
            <a:srgbClr val="458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2221991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03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0" y="2615184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小目标细节丢失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9600" y="3054096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远距离路标在雾中只保留少量有效像素。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051560" y="4709160"/>
            <a:ext cx="10104120" cy="868680"/>
          </a:xfrm>
          <a:prstGeom prst="roundRect">
            <a:avLst/>
          </a:prstGeom>
          <a:solidFill>
            <a:srgbClr val="FDF7F9"/>
          </a:solidFill>
          <a:ln w="12700">
            <a:solidFill>
              <a:srgbClr val="EE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4974336"/>
            <a:ext cx="9509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1F35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本项目关注的问题：通过去雾增强改善图像可见性，并比较处理前后路标检测结果的变化。</a:t>
            </a:r>
            <a:endParaRPr>
              <a:latin typeface="微软雅黑" panose="020B0503020204020204" pitchFamily="34" charset="-122"/>
            </a:endParaRPr>
          </a:p>
        </p:txBody>
      </p:sp>
      <p:pic>
        <p:nvPicPr>
          <p:cNvPr id="27" name="图片 26" descr="logo800_164918584369415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65" y="50165"/>
            <a:ext cx="445135" cy="4305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2000" cy="32004"/>
          </a:xfrm>
          <a:prstGeom prst="rect">
            <a:avLst/>
          </a:prstGeom>
          <a:solidFill>
            <a:srgbClr val="AB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00584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系统总体流程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03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去雾、检测、评价三步串起来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1998878" cy="786384"/>
          </a:xfrm>
          <a:prstGeom prst="roundRect">
            <a:avLst/>
          </a:prstGeom>
          <a:solidFill>
            <a:srgbClr val="AB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01952"/>
            <a:ext cx="1907438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输入雾天图像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2744114" y="2011680"/>
            <a:ext cx="109728" cy="201168"/>
          </a:xfrm>
          <a:prstGeom prst="rightArrow">
            <a:avLst/>
          </a:prstGeom>
          <a:solidFill>
            <a:srgbClr val="5C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76702" y="1783080"/>
            <a:ext cx="1998878" cy="786384"/>
          </a:xfrm>
          <a:prstGeom prst="roundRect">
            <a:avLst/>
          </a:prstGeom>
          <a:solidFill>
            <a:srgbClr val="315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2422" y="1901952"/>
            <a:ext cx="1907438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DCP 图像去雾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907584" y="2011680"/>
            <a:ext cx="109728" cy="201168"/>
          </a:xfrm>
          <a:prstGeom prst="rightArrow">
            <a:avLst/>
          </a:prstGeom>
          <a:solidFill>
            <a:srgbClr val="5C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40172" y="1783080"/>
            <a:ext cx="1998878" cy="786384"/>
          </a:xfrm>
          <a:prstGeom prst="roundRect">
            <a:avLst/>
          </a:prstGeom>
          <a:solidFill>
            <a:srgbClr val="458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5892" y="1901952"/>
            <a:ext cx="1907438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YOLOv8 双路检测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7071055" y="2011680"/>
            <a:ext cx="109728" cy="201168"/>
          </a:xfrm>
          <a:prstGeom prst="rightArrow">
            <a:avLst/>
          </a:prstGeom>
          <a:solidFill>
            <a:srgbClr val="5C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03643" y="1783080"/>
            <a:ext cx="1998878" cy="786384"/>
          </a:xfrm>
          <a:prstGeom prst="roundRect">
            <a:avLst/>
          </a:prstGeom>
          <a:solidFill>
            <a:srgbClr val="C4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9363" y="1901952"/>
            <a:ext cx="1907438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指标对比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9234525" y="2011680"/>
            <a:ext cx="109728" cy="201168"/>
          </a:xfrm>
          <a:prstGeom prst="rightArrow">
            <a:avLst/>
          </a:prstGeom>
          <a:solidFill>
            <a:srgbClr val="5C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67113" y="1783080"/>
            <a:ext cx="1998878" cy="786384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2833" y="1901952"/>
            <a:ext cx="1907438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页面展示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7240" y="2999232"/>
            <a:ext cx="48920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315467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1F35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图像去雾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67128" y="314553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输出去雾图、暗通道图和透射率图，保留算法中间结果。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72200" y="2999232"/>
            <a:ext cx="48920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315467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1F35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目标检测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62088" y="314553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原始雾图和去雾图使用同一检测模型，结果具有可比性。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77240" y="4142231"/>
            <a:ext cx="48920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" y="429767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1F35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指标评价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67128" y="428853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同时统计图像质量和检测结果，形成可解释的对比。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72200" y="4142231"/>
            <a:ext cx="48920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429767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1F35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交互展示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562088" y="428853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通过页面完成上传、调参、观察、下载，便于课堂演示。</a:t>
            </a:r>
            <a:endParaRPr>
              <a:latin typeface="微软雅黑" panose="020B0503020204020204" pitchFamily="34" charset="-122"/>
            </a:endParaRPr>
          </a:p>
        </p:txBody>
      </p:sp>
      <p:pic>
        <p:nvPicPr>
          <p:cNvPr id="35" name="图片 34" descr="logo800_164918584369415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65" y="50165"/>
            <a:ext cx="445135" cy="4305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2000" cy="32004"/>
          </a:xfrm>
          <a:prstGeom prst="rect">
            <a:avLst/>
          </a:prstGeom>
          <a:solidFill>
            <a:srgbClr val="AB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00584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DCP 去雾方法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04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用暗通道估计雾的影响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4709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7373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1F35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大气散射模型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7552" y="221284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I(x) = J(x)t(x) + A(1 - t(x))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9264" y="2816352"/>
            <a:ext cx="4114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spcAft>
                <a:spcPts val="700"/>
              </a:spcAft>
              <a:defRPr sz="130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I(x)：输入的有雾图像</a:t>
            </a:r>
            <a:endParaRPr>
              <a:latin typeface="微软雅黑" panose="020B0503020204020204" pitchFamily="34" charset="-122"/>
            </a:endParaRPr>
          </a:p>
          <a:p>
            <a:pPr marL="228600">
              <a:spcAft>
                <a:spcPts val="700"/>
              </a:spcAft>
              <a:defRPr sz="130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J(x)：希望恢复的清晰图像</a:t>
            </a:r>
            <a:endParaRPr>
              <a:latin typeface="微软雅黑" panose="020B0503020204020204" pitchFamily="34" charset="-122"/>
            </a:endParaRPr>
          </a:p>
          <a:p>
            <a:pPr marL="228600">
              <a:spcAft>
                <a:spcPts val="700"/>
              </a:spcAft>
              <a:defRPr sz="130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A：雾天环境中的大气光</a:t>
            </a:r>
            <a:endParaRPr>
              <a:latin typeface="微软雅黑" panose="020B0503020204020204" pitchFamily="34" charset="-122"/>
            </a:endParaRPr>
          </a:p>
          <a:p>
            <a:pPr marL="228600">
              <a:spcAft>
                <a:spcPts val="700"/>
              </a:spcAft>
              <a:defRPr sz="130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t(x)：场景信息保留下来的比例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7552" y="4873752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实现流程：暗通道计算 → 大气光估计 → 透射率估计 → 引导滤波 → 图像恢复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89320" y="1920240"/>
            <a:ext cx="1325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59" y="22585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B1F35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暗通道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7379208" y="2258568"/>
            <a:ext cx="201168" cy="164592"/>
          </a:xfrm>
          <a:prstGeom prst="rightArrow">
            <a:avLst/>
          </a:prstGeom>
          <a:solidFill>
            <a:srgbClr val="5C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0" y="1920240"/>
            <a:ext cx="1325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2585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15381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透射率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9070848" y="2258568"/>
            <a:ext cx="201168" cy="164592"/>
          </a:xfrm>
          <a:prstGeom prst="rightArrow">
            <a:avLst/>
          </a:prstGeom>
          <a:solidFill>
            <a:srgbClr val="5C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72600" y="1920240"/>
            <a:ext cx="1325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22585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5815D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去雾图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70448" y="3401568"/>
            <a:ext cx="50749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spcAft>
                <a:spcPts val="700"/>
              </a:spcAft>
              <a:defRPr sz="140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暗通道反映雾对局部区域的抬亮效果。</a:t>
            </a:r>
            <a:endParaRPr>
              <a:latin typeface="微软雅黑" panose="020B0503020204020204" pitchFamily="34" charset="-122"/>
            </a:endParaRPr>
          </a:p>
          <a:p>
            <a:pPr marL="228600">
              <a:spcAft>
                <a:spcPts val="700"/>
              </a:spcAft>
              <a:defRPr sz="140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透射率图描述不同位置的雾浓度差异。</a:t>
            </a:r>
            <a:endParaRPr>
              <a:latin typeface="微软雅黑" panose="020B0503020204020204" pitchFamily="34" charset="-122"/>
            </a:endParaRPr>
          </a:p>
          <a:p>
            <a:pPr marL="228600">
              <a:spcAft>
                <a:spcPts val="700"/>
              </a:spcAft>
              <a:defRPr sz="140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引导滤波让恢复结果更平滑、边缘更自然。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97880" y="52852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这一模块提供去雾结果，也提供暗通道和透射率图作为可解释的中间结果。</a:t>
            </a:r>
            <a:endParaRPr>
              <a:latin typeface="微软雅黑" panose="020B0503020204020204" pitchFamily="34" charset="-122"/>
            </a:endParaRPr>
          </a:p>
        </p:txBody>
      </p:sp>
      <p:pic>
        <p:nvPicPr>
          <p:cNvPr id="27" name="图片 26" descr="logo800_164918584369415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65" y="50165"/>
            <a:ext cx="445135" cy="4305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2000" cy="32004"/>
          </a:xfrm>
          <a:prstGeom prst="rect">
            <a:avLst/>
          </a:prstGeom>
          <a:solidFill>
            <a:srgbClr val="AB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00584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YOLOv8 路标检测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05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对原图和去雾图做同一套检测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spcAft>
                <a:spcPts val="700"/>
              </a:spcAft>
              <a:defRPr sz="150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检测框架采用 Ultralytics YOLOv8。</a:t>
            </a:r>
            <a:endParaRPr>
              <a:latin typeface="微软雅黑" panose="020B0503020204020204" pitchFamily="34" charset="-122"/>
            </a:endParaRPr>
          </a:p>
          <a:p>
            <a:pPr marL="228600">
              <a:spcAft>
                <a:spcPts val="700"/>
              </a:spcAft>
              <a:defRPr sz="150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原始雾图和去雾图使用相同权重、相同阈值进行推理。</a:t>
            </a:r>
            <a:endParaRPr>
              <a:latin typeface="微软雅黑" panose="020B0503020204020204" pitchFamily="34" charset="-122"/>
            </a:endParaRPr>
          </a:p>
          <a:p>
            <a:pPr marL="228600">
              <a:spcAft>
                <a:spcPts val="700"/>
              </a:spcAft>
              <a:defRPr sz="150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输出类别、置信度、检测框坐标和目标面积。</a:t>
            </a:r>
            <a:endParaRPr>
              <a:latin typeface="微软雅黑" panose="020B0503020204020204" pitchFamily="34" charset="-122"/>
            </a:endParaRPr>
          </a:p>
          <a:p>
            <a:pPr marL="228600">
              <a:spcAft>
                <a:spcPts val="700"/>
              </a:spcAft>
              <a:defRPr sz="150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检测结果以图像和表格两种方式呈现。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" y="4041648"/>
            <a:ext cx="4709160" cy="1170432"/>
          </a:xfrm>
          <a:prstGeom prst="roundRect">
            <a:avLst/>
          </a:prstGeom>
          <a:solidFill>
            <a:srgbClr val="FDF7F9"/>
          </a:solidFill>
          <a:ln w="12700">
            <a:solidFill>
              <a:srgbClr val="EE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279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B1F35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对比设计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93392" y="4261104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同一张图像分别经过“直接检测”和“去雾后检测”，结果差异来自图像增强过程。</a:t>
            </a:r>
            <a:endParaRPr>
              <a:latin typeface="微软雅黑" panose="020B0503020204020204" pitchFamily="34" charset="-122"/>
            </a:endParaRPr>
          </a:p>
        </p:txBody>
      </p:sp>
      <p:pic>
        <p:nvPicPr>
          <p:cNvPr id="13" name="Picture 12" descr="val_batch0_pred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79" y="1325880"/>
            <a:ext cx="4389120" cy="43891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989320" y="1325880"/>
            <a:ext cx="5120640" cy="4389120"/>
          </a:xfrm>
          <a:prstGeom prst="roundRect">
            <a:avLst/>
          </a:prstGeom>
          <a:noFill/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577900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检测结果示例：模型输出路标位置、类别和置信度。</a:t>
            </a:r>
            <a:endParaRPr>
              <a:latin typeface="微软雅黑" panose="020B0503020204020204" pitchFamily="34" charset="-122"/>
            </a:endParaRPr>
          </a:p>
        </p:txBody>
      </p:sp>
      <p:pic>
        <p:nvPicPr>
          <p:cNvPr id="27" name="图片 26" descr="logo800_164918584369415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65" y="50165"/>
            <a:ext cx="445135" cy="4305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2000" cy="32004"/>
          </a:xfrm>
          <a:prstGeom prst="rect">
            <a:avLst/>
          </a:prstGeom>
          <a:solidFill>
            <a:srgbClr val="AB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00584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数据集处理与训练设置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06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让每个类别都进入训练、验证和测试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1353312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目标检测数据可能一张图含多个类别，因此采用多标签分层划分来保持类别覆盖。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8680" y="1874519"/>
            <a:ext cx="2926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08483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训练集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24871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B1F35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1674 张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34840" y="1874519"/>
            <a:ext cx="2926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08483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验证集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63440" y="24871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15381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209 张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01000" y="1874519"/>
            <a:ext cx="2926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8483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测试集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0" y="24871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5815D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210 张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475488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spcAft>
                <a:spcPts val="700"/>
              </a:spcAft>
              <a:defRPr sz="140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数据集包含 21 类交通标志。</a:t>
            </a:r>
            <a:endParaRPr>
              <a:latin typeface="微软雅黑" panose="020B0503020204020204" pitchFamily="34" charset="-122"/>
            </a:endParaRPr>
          </a:p>
          <a:p>
            <a:pPr marL="228600">
              <a:spcAft>
                <a:spcPts val="700"/>
              </a:spcAft>
              <a:defRPr sz="140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每个类别均覆盖训练、验证和测试集合。</a:t>
            </a:r>
            <a:endParaRPr>
              <a:latin typeface="微软雅黑" panose="020B0503020204020204" pitchFamily="34" charset="-122"/>
            </a:endParaRPr>
          </a:p>
          <a:p>
            <a:pPr marL="228600">
              <a:spcAft>
                <a:spcPts val="700"/>
              </a:spcAft>
              <a:defRPr sz="140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训练使用 YOLOv8s，输入尺寸为 960，适配小目标场景。</a:t>
            </a:r>
            <a:endParaRPr>
              <a:latin typeface="微软雅黑" panose="020B0503020204020204" pitchFamily="34" charset="-122"/>
            </a:endParaRPr>
          </a:p>
          <a:p>
            <a:pPr marL="228600">
              <a:spcAft>
                <a:spcPts val="700"/>
              </a:spcAft>
              <a:defRPr sz="140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验证集指标用于观察模型整体收敛和类别混淆情况。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44768" y="3657600"/>
            <a:ext cx="19019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376732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Precision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50608" y="3749039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AB1F35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0.960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385048" y="3657600"/>
            <a:ext cx="19019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31352" y="376732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Recall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90888" y="3749039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315381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0.946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44768" y="4590288"/>
            <a:ext cx="19019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4700016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mAP50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50608" y="4681727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AB1F35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0.963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385048" y="4590288"/>
            <a:ext cx="19019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4700016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mAP50-95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390888" y="4681727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315381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0.785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99632" y="55504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训练记录最后一轮：epoch 118</a:t>
            </a:r>
            <a:endParaRPr>
              <a:latin typeface="微软雅黑" panose="020B0503020204020204" pitchFamily="34" charset="-122"/>
            </a:endParaRPr>
          </a:p>
        </p:txBody>
      </p:sp>
      <p:pic>
        <p:nvPicPr>
          <p:cNvPr id="33" name="图片 32" descr="logo800_164918584369415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65" y="50165"/>
            <a:ext cx="445135" cy="4305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2000" cy="32004"/>
          </a:xfrm>
          <a:prstGeom prst="rect">
            <a:avLst/>
          </a:prstGeom>
          <a:solidFill>
            <a:srgbClr val="AB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00584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可视化系统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07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把算法过程做成可操作的实验页面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47091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spcAft>
                <a:spcPts val="700"/>
              </a:spcAft>
              <a:defRPr sz="145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上传一张雾天路标图像即可运行完整流程。</a:t>
            </a:r>
            <a:endParaRPr>
              <a:latin typeface="微软雅黑" panose="020B0503020204020204" pitchFamily="34" charset="-122"/>
            </a:endParaRPr>
          </a:p>
          <a:p>
            <a:pPr marL="228600">
              <a:spcAft>
                <a:spcPts val="700"/>
              </a:spcAft>
              <a:defRPr sz="145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侧边栏支持调节去雾参数、置信度阈值和推理设备。</a:t>
            </a:r>
            <a:endParaRPr>
              <a:latin typeface="微软雅黑" panose="020B0503020204020204" pitchFamily="34" charset="-122"/>
            </a:endParaRPr>
          </a:p>
          <a:p>
            <a:pPr marL="228600">
              <a:spcAft>
                <a:spcPts val="700"/>
              </a:spcAft>
              <a:defRPr sz="145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页面同步展示原始雾图、去雾图、暗通道图、透射率图。</a:t>
            </a:r>
            <a:endParaRPr>
              <a:latin typeface="微软雅黑" panose="020B0503020204020204" pitchFamily="34" charset="-122"/>
            </a:endParaRPr>
          </a:p>
          <a:p>
            <a:pPr marL="228600">
              <a:spcAft>
                <a:spcPts val="700"/>
              </a:spcAft>
              <a:defRPr sz="145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检测框表格和指标表用于解释结果变化。</a:t>
            </a:r>
            <a:endParaRPr>
              <a:latin typeface="微软雅黑" panose="020B0503020204020204" pitchFamily="34" charset="-122"/>
            </a:endParaRPr>
          </a:p>
          <a:p>
            <a:pPr marL="228600">
              <a:spcAft>
                <a:spcPts val="700"/>
              </a:spcAft>
              <a:defRPr sz="145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去雾图和检测结果图可以直接下载。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897880" y="132588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627632"/>
            <a:ext cx="1143000" cy="3749039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8470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B1F35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参数区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09360" y="2331720"/>
            <a:ext cx="82296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95728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DCP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09360" y="2926079"/>
            <a:ext cx="82296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2990088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YOLO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09360" y="3520439"/>
            <a:ext cx="82296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584448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设备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309360" y="4114800"/>
            <a:ext cx="82296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4178808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阈值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479792" y="1627632"/>
            <a:ext cx="340156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17627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15381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图像展示区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479792" y="3310128"/>
            <a:ext cx="34015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361188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5815D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检测框信息表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479792" y="4343400"/>
            <a:ext cx="3401568" cy="10332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475488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49748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指标对比与下载</a:t>
            </a:r>
            <a:endParaRPr>
              <a:latin typeface="微软雅黑" panose="020B0503020204020204" pitchFamily="34" charset="-122"/>
            </a:endParaRPr>
          </a:p>
        </p:txBody>
      </p:sp>
      <p:pic>
        <p:nvPicPr>
          <p:cNvPr id="27" name="图片 26" descr="logo800_164918584369415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65" y="50165"/>
            <a:ext cx="445135" cy="4305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2000" cy="32004"/>
          </a:xfrm>
          <a:prstGeom prst="rect">
            <a:avLst/>
          </a:prstGeom>
          <a:solidFill>
            <a:srgbClr val="AB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00584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评价指标设计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08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同时看图像质量和检测表现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1353312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同一张图像在去雾前后进行对比，图像指标和检测指标共同说明效果变化。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1248" y="1874519"/>
            <a:ext cx="49834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214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B1F35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图像质量指标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8992" y="2651760"/>
            <a:ext cx="4206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spcAft>
                <a:spcPts val="700"/>
              </a:spcAft>
              <a:defRPr sz="135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对比度：观察灰度标准差变化。</a:t>
            </a:r>
            <a:endParaRPr>
              <a:latin typeface="微软雅黑" panose="020B0503020204020204" pitchFamily="34" charset="-122"/>
            </a:endParaRPr>
          </a:p>
          <a:p>
            <a:pPr marL="228600">
              <a:spcAft>
                <a:spcPts val="700"/>
              </a:spcAft>
              <a:defRPr sz="135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信息熵：描述图像信息量。</a:t>
            </a:r>
            <a:endParaRPr>
              <a:latin typeface="微软雅黑" panose="020B0503020204020204" pitchFamily="34" charset="-122"/>
            </a:endParaRPr>
          </a:p>
          <a:p>
            <a:pPr marL="228600">
              <a:spcAft>
                <a:spcPts val="700"/>
              </a:spcAft>
              <a:defRPr sz="135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清晰度：使用拉普拉斯方差衡量边缘强度。</a:t>
            </a:r>
            <a:endParaRPr>
              <a:latin typeface="微软雅黑" panose="020B0503020204020204" pitchFamily="34" charset="-122"/>
            </a:endParaRPr>
          </a:p>
          <a:p>
            <a:pPr marL="228600">
              <a:spcAft>
                <a:spcPts val="700"/>
              </a:spcAft>
              <a:defRPr sz="135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边缘数量：反映可见结构是否增加。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49834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1214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15381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检测结果指标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40" y="2651760"/>
            <a:ext cx="4206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spcAft>
                <a:spcPts val="700"/>
              </a:spcAft>
              <a:defRPr sz="135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检测数量：统计模型响应的目标个数。</a:t>
            </a:r>
            <a:endParaRPr>
              <a:latin typeface="微软雅黑" panose="020B0503020204020204" pitchFamily="34" charset="-122"/>
            </a:endParaRPr>
          </a:p>
          <a:p>
            <a:pPr marL="228600">
              <a:spcAft>
                <a:spcPts val="700"/>
              </a:spcAft>
              <a:defRPr sz="135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平均置信度：观察整体预测把握程度。</a:t>
            </a:r>
            <a:endParaRPr>
              <a:latin typeface="微软雅黑" panose="020B0503020204020204" pitchFamily="34" charset="-122"/>
            </a:endParaRPr>
          </a:p>
          <a:p>
            <a:pPr marL="228600">
              <a:spcAft>
                <a:spcPts val="700"/>
              </a:spcAft>
              <a:defRPr sz="135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最高置信度：观察最稳定目标的预测强度。</a:t>
            </a:r>
            <a:endParaRPr>
              <a:latin typeface="微软雅黑" panose="020B0503020204020204" pitchFamily="34" charset="-122"/>
            </a:endParaRPr>
          </a:p>
          <a:p>
            <a:pPr marL="228600">
              <a:spcAft>
                <a:spcPts val="700"/>
              </a:spcAft>
              <a:defRPr sz="135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检测框面积：辅助分析小目标和大目标差异。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65960" y="5742432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指标解释原则：图像更清晰、模型响应更稳定、检测结果更容易分析。</a:t>
            </a:r>
            <a:endParaRPr>
              <a:latin typeface="微软雅黑" panose="020B0503020204020204" pitchFamily="34" charset="-122"/>
            </a:endParaRPr>
          </a:p>
        </p:txBody>
      </p:sp>
      <p:pic>
        <p:nvPicPr>
          <p:cNvPr id="27" name="图片 26" descr="logo800_164918584369415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65" y="50165"/>
            <a:ext cx="445135" cy="4305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2000" cy="32004"/>
          </a:xfrm>
          <a:prstGeom prst="rect">
            <a:avLst/>
          </a:prstGeom>
          <a:solidFill>
            <a:srgbClr val="AB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00584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实验展示与结果分析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09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去雾后可见性提升，检测结果随场景变化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4434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spcAft>
                <a:spcPts val="700"/>
              </a:spcAft>
              <a:defRPr sz="135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测试样例覆盖信号灯、警告牌、禁令牌、人行横道、公交站等类别。</a:t>
            </a:r>
            <a:endParaRPr>
              <a:latin typeface="微软雅黑" panose="020B0503020204020204" pitchFamily="34" charset="-122"/>
            </a:endParaRPr>
          </a:p>
          <a:p>
            <a:pPr marL="228600">
              <a:spcAft>
                <a:spcPts val="700"/>
              </a:spcAft>
              <a:defRPr sz="135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DCP 去雾通常提升局部对比度和边缘可见性。</a:t>
            </a:r>
            <a:endParaRPr>
              <a:latin typeface="微软雅黑" panose="020B0503020204020204" pitchFamily="34" charset="-122"/>
            </a:endParaRPr>
          </a:p>
          <a:p>
            <a:pPr marL="228600">
              <a:spcAft>
                <a:spcPts val="700"/>
              </a:spcAft>
              <a:defRPr sz="135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模型置信度和检测框稳定性会随目标尺寸、雾浓度和颜色保持程度变化。</a:t>
            </a:r>
            <a:endParaRPr>
              <a:latin typeface="微软雅黑" panose="020B0503020204020204" pitchFamily="34" charset="-122"/>
            </a:endParaRPr>
          </a:p>
        </p:txBody>
      </p:sp>
      <p:pic>
        <p:nvPicPr>
          <p:cNvPr id="10" name="Picture 9" descr="foggy_contact_sheet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5794" y="1143000"/>
            <a:ext cx="4376210" cy="51663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32120" y="1143000"/>
            <a:ext cx="5623560" cy="5166360"/>
          </a:xfrm>
          <a:prstGeom prst="roundRect">
            <a:avLst/>
          </a:prstGeom>
          <a:noFill/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图片 26" descr="logo800_164918584369415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65" y="50165"/>
            <a:ext cx="445135" cy="4305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2000" cy="32004"/>
          </a:xfrm>
          <a:prstGeom prst="rect">
            <a:avLst/>
          </a:prstGeom>
          <a:solidFill>
            <a:srgbClr val="AB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00584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总结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11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F2A44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完成了一个雾天路标检测实验系统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8680" y="1755648"/>
            <a:ext cx="4754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69848" y="1938528"/>
            <a:ext cx="438912" cy="292608"/>
          </a:xfrm>
          <a:prstGeom prst="roundRect">
            <a:avLst/>
          </a:prstGeom>
          <a:solidFill>
            <a:srgbClr val="AB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198424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1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91640" y="1920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1F35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图像去雾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70632" y="1911095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实现 DCP 暗通道先验，并输出可解释中间结果。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755648"/>
            <a:ext cx="4754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64808" y="1938528"/>
            <a:ext cx="438912" cy="292608"/>
          </a:xfrm>
          <a:prstGeom prst="roundRect">
            <a:avLst/>
          </a:prstGeom>
          <a:solidFill>
            <a:srgbClr val="315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98424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2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86600" y="1920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15381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目标检测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65592" y="1911095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接入 YOLOv8 路标检测，支持自定义训练权重。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68680" y="2990088"/>
            <a:ext cx="4754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69848" y="3172968"/>
            <a:ext cx="438912" cy="292608"/>
          </a:xfrm>
          <a:prstGeom prst="roundRect">
            <a:avLst/>
          </a:prstGeom>
          <a:solidFill>
            <a:srgbClr val="458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32186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3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91640" y="31546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5815D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指标评价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70632" y="314553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同时比较图像质量和检测结果，支撑实验分析。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63640" y="2990088"/>
            <a:ext cx="4754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64808" y="3172968"/>
            <a:ext cx="438912" cy="292608"/>
          </a:xfrm>
          <a:prstGeom prst="roundRect">
            <a:avLst/>
          </a:prstGeom>
          <a:solidFill>
            <a:srgbClr val="C4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32186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4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86600" y="31546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9748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交互展示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165592" y="314553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F2A44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通过可视化页面完成上传、调参、展示和下载。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120267" y="3950335"/>
            <a:ext cx="10012680" cy="868680"/>
          </a:xfrm>
          <a:prstGeom prst="roundRect">
            <a:avLst/>
          </a:prstGeom>
          <a:solidFill>
            <a:srgbClr val="FDF7F9"/>
          </a:solidFill>
          <a:ln w="12700">
            <a:solidFill>
              <a:srgbClr val="EE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53312" y="422478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B1F35"/>
                </a:solidFill>
                <a:latin typeface="Microsoft YaHei UI" panose="020B0503020204020204" charset="-122"/>
              </a:defRPr>
            </a:pPr>
            <a:r>
              <a:rPr>
                <a:latin typeface="微软雅黑" panose="020B0503020204020204" pitchFamily="34" charset="-122"/>
              </a:rPr>
              <a:t>本系统把图像增强、目标检测、指标评价和交互展示整合到同一条实验流程中，用于观察雾天图像处理对路标检测的影响。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77639" y="6286627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C6370"/>
                </a:solidFill>
                <a:latin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</a:rPr>
              <a:t>以上是我的项目汇报，请老师批评指正。</a:t>
            </a:r>
            <a:endParaRPr>
              <a:latin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760855" y="4819015"/>
            <a:ext cx="7346950" cy="1191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小组成员与分工</a:t>
            </a:r>
            <a:endParaRPr lang="zh-CN" altLang="en-US" sz="1600"/>
          </a:p>
          <a:p>
            <a:r>
              <a:rPr lang="zh-CN" altLang="en-US" sz="1600"/>
              <a:t>卢可为：负责</a:t>
            </a:r>
            <a:r>
              <a:rPr lang="zh-CN" altLang="en-US" sz="1600"/>
              <a:t>去雾算法的研究设计，</a:t>
            </a:r>
            <a:r>
              <a:rPr lang="zh-CN" altLang="en-US" sz="1600"/>
              <a:t>系统的设计与开发。</a:t>
            </a:r>
            <a:endParaRPr lang="zh-CN" altLang="en-US" sz="1600"/>
          </a:p>
          <a:p>
            <a:r>
              <a:rPr lang="zh-CN" altLang="en-US" sz="1600"/>
              <a:t>陆康：负责数据的搜集整理，模型训练和测试。</a:t>
            </a:r>
            <a:endParaRPr lang="zh-CN" altLang="en-US" sz="1600"/>
          </a:p>
        </p:txBody>
      </p:sp>
      <p:pic>
        <p:nvPicPr>
          <p:cNvPr id="33" name="图片 32" descr="logo800_164918584369415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65" y="50165"/>
            <a:ext cx="445135" cy="4305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包图主题2">
  <a:themeElements>
    <a:clrScheme name="自定义 38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C200"/>
      </a:accent1>
      <a:accent2>
        <a:srgbClr val="323F4F"/>
      </a:accent2>
      <a:accent3>
        <a:srgbClr val="FFC200"/>
      </a:accent3>
      <a:accent4>
        <a:srgbClr val="323F4F"/>
      </a:accent4>
      <a:accent5>
        <a:srgbClr val="FFC200"/>
      </a:accent5>
      <a:accent6>
        <a:srgbClr val="323F4F"/>
      </a:accent6>
      <a:hlink>
        <a:srgbClr val="FFC200"/>
      </a:hlink>
      <a:folHlink>
        <a:srgbClr val="FFFFF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0</TotalTime>
  <Words>1896</Words>
  <Application>WPS 演示</Application>
  <PresentationFormat>自定义</PresentationFormat>
  <Paragraphs>271</Paragraphs>
  <Slides>10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Arial</vt:lpstr>
      <vt:lpstr>Microsoft YaHei UI</vt:lpstr>
      <vt:lpstr>Arial Unicode MS</vt:lpstr>
      <vt:lpstr>等线</vt:lpstr>
      <vt:lpstr>包图主题2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陆康</cp:lastModifiedBy>
  <cp:revision>69</cp:revision>
  <dcterms:created xsi:type="dcterms:W3CDTF">2017-08-18T03:02:00Z</dcterms:created>
  <dcterms:modified xsi:type="dcterms:W3CDTF">2026-06-18T10:51:16Z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7BE7B2F86E354AF2BBB4D84D380E95FA_12</vt:lpwstr>
  </property>
</Properties>
</file>